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7" r:id="rId4"/>
    <p:sldId id="258" r:id="rId5"/>
    <p:sldId id="259" r:id="rId6"/>
    <p:sldId id="260" r:id="rId7"/>
    <p:sldId id="261"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27B78-2501-01C6-4EFC-8C36FA408C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A835FD-0BDD-4B51-78BA-C5E368F77C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CC3020-D85A-52B1-A95D-A9548320A692}"/>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8FA491D8-6D8B-C9D5-4B2C-C89D694D5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69EA7D-E688-F550-0A27-5D587E4DB933}"/>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89051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0E92C-E24A-3772-08EC-2B7C2E6856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F21C-C675-0EC1-4893-1109F24645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FD46EA-A119-CBA7-41B0-6210C3109249}"/>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92A1E0B1-171F-2CA3-2A99-A3132BCF8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776821-335B-0D58-6E82-0D73556D6370}"/>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049861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BEC76-1A9B-AE64-80F0-3E4BBFF3DD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44D84E-4C87-67F3-6E25-C8BD86585B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0F2B7C-54DA-5245-08CE-2AB65A1C23E6}"/>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D67E7C53-6ACE-182F-834F-6D46EA721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04D5B-650A-5A5B-5F73-038328A0736E}"/>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20560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C7642-0AE3-DDDB-4C47-7186732439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945A2C-6C7A-0E32-82FD-F1DB7BD801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24B956-3763-49A5-1762-C110F41BE6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E6B07A-ABF2-AA2C-26DA-EDAD7AC8A5A4}"/>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6" name="Footer Placeholder 5">
            <a:extLst>
              <a:ext uri="{FF2B5EF4-FFF2-40B4-BE49-F238E27FC236}">
                <a16:creationId xmlns:a16="http://schemas.microsoft.com/office/drawing/2014/main" id="{FDE13C84-4168-F99D-004A-BE4BAF820F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4041C-EBBF-19BD-BE80-17A3CF6AA4E8}"/>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337073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B8F6D-E9EE-E243-52A4-39A91B4355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277E56-726E-BDC0-20B1-93C2E8CB02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A7B88A-F9C8-D35B-875A-C688FBB30B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A01C9C-B5C9-828E-2FB5-3007FB6BC6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6D3C90-2F31-EB63-05E3-C3DBD9DD24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85CF8A-5089-DB8C-AA5B-3A97139FC9B6}"/>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8" name="Footer Placeholder 7">
            <a:extLst>
              <a:ext uri="{FF2B5EF4-FFF2-40B4-BE49-F238E27FC236}">
                <a16:creationId xmlns:a16="http://schemas.microsoft.com/office/drawing/2014/main" id="{502CAE8A-745A-3B0B-2143-781124A1CE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71834D-47AC-5FAC-3F9A-8BFFC92DB4C8}"/>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313803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DAE0B-3AA2-5954-64CE-4968830FA4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73A714-4354-3F3F-D83A-DB68D2C54D71}"/>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4" name="Footer Placeholder 3">
            <a:extLst>
              <a:ext uri="{FF2B5EF4-FFF2-40B4-BE49-F238E27FC236}">
                <a16:creationId xmlns:a16="http://schemas.microsoft.com/office/drawing/2014/main" id="{F9BEC2E6-C073-1948-1C42-30F9321BC9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652CB8-CD48-A701-5615-C6358C2DA5DC}"/>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10145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D2A0E-B193-F3DC-511D-0E58F7DB3AB8}"/>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3" name="Footer Placeholder 2">
            <a:extLst>
              <a:ext uri="{FF2B5EF4-FFF2-40B4-BE49-F238E27FC236}">
                <a16:creationId xmlns:a16="http://schemas.microsoft.com/office/drawing/2014/main" id="{9CE6E7EF-E4C1-4023-AD42-A1EF05D590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2F9E90-45F8-C355-0BB0-C4572D14FA1B}"/>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97931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1998A-6893-DDC0-886D-4BDCCB755A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E27AE3-3A37-F784-776F-198B5B1B42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1811ED-3D02-AB58-C19C-7C95515FE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697A73-5077-80AD-ABA4-4C4922BD103A}"/>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6" name="Footer Placeholder 5">
            <a:extLst>
              <a:ext uri="{FF2B5EF4-FFF2-40B4-BE49-F238E27FC236}">
                <a16:creationId xmlns:a16="http://schemas.microsoft.com/office/drawing/2014/main" id="{B6EFEFBF-D960-7156-0626-65E438D689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C5A29A-91B2-CDB7-2327-15A13DB6A464}"/>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824043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6239-529C-2A42-C029-7877347AD0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7E42E3-D907-994E-EAC1-805B25BCC3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48FEA7-45AC-4723-7FE4-F71618FF3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4BC74-E5C9-F7C6-8DC7-0289A49A10DB}"/>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6" name="Footer Placeholder 5">
            <a:extLst>
              <a:ext uri="{FF2B5EF4-FFF2-40B4-BE49-F238E27FC236}">
                <a16:creationId xmlns:a16="http://schemas.microsoft.com/office/drawing/2014/main" id="{462635BA-F239-0F83-BE31-96DC7507A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78E6D4-B454-8618-68A4-A1D64E094FD6}"/>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375681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AA5B-631E-FDD7-6FA3-8ADB0B19E5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824FFD-A9F1-E42C-959D-B9CF964671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304DA3-AC0F-F7CF-298F-8919835A8938}"/>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288C7250-7744-849C-FE71-BE102E567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1E251-7393-5461-1D0E-A1D22D9CC81C}"/>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3210990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D3413A-FB3F-B439-6E97-62F2B367E3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FF6BB6-2D50-FE88-DC7D-D78B3C0341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B1179-C2A7-EEEE-1079-FC49D5B73D03}"/>
              </a:ext>
            </a:extLst>
          </p:cNvPr>
          <p:cNvSpPr>
            <a:spLocks noGrp="1"/>
          </p:cNvSpPr>
          <p:nvPr>
            <p:ph type="dt" sz="half" idx="10"/>
          </p:nvPr>
        </p:nvSpPr>
        <p:spPr/>
        <p:txBody>
          <a:body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0B1D5567-655B-7D60-077B-37685E83B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9E233-B8E3-E22D-2F56-BC4329107891}"/>
              </a:ext>
            </a:extLst>
          </p:cNvPr>
          <p:cNvSpPr>
            <a:spLocks noGrp="1"/>
          </p:cNvSpPr>
          <p:nvPr>
            <p:ph type="sldNum" sz="quarter" idx="12"/>
          </p:nvPr>
        </p:nvSpPr>
        <p:spPr/>
        <p:txBody>
          <a:bodyPr/>
          <a:lstStyle/>
          <a:p>
            <a:fld id="{9E8239AF-7DDD-4E20-A396-C051BD458AF3}" type="slidenum">
              <a:rPr lang="en-US" smtClean="0"/>
              <a:t>‹#›</a:t>
            </a:fld>
            <a:endParaRPr lang="en-US"/>
          </a:p>
        </p:txBody>
      </p:sp>
    </p:spTree>
    <p:extLst>
      <p:ext uri="{BB962C8B-B14F-4D97-AF65-F5344CB8AC3E}">
        <p14:creationId xmlns:p14="http://schemas.microsoft.com/office/powerpoint/2010/main" val="249535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36C771-E400-A3C3-F62A-67A0AF85E6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062BFC-3D0D-8F0A-0002-FEFBB7AB5B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6277E-3BC1-47C9-D56F-1C386DA24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E1231-7EB2-48C7-A777-1FCFC61F9966}" type="datetimeFigureOut">
              <a:rPr lang="en-US" smtClean="0"/>
              <a:t>2/15/2026</a:t>
            </a:fld>
            <a:endParaRPr lang="en-US"/>
          </a:p>
        </p:txBody>
      </p:sp>
      <p:sp>
        <p:nvSpPr>
          <p:cNvPr id="5" name="Footer Placeholder 4">
            <a:extLst>
              <a:ext uri="{FF2B5EF4-FFF2-40B4-BE49-F238E27FC236}">
                <a16:creationId xmlns:a16="http://schemas.microsoft.com/office/drawing/2014/main" id="{460AAD0E-3650-CE5B-4A08-9549217D2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069089-A7FA-1B1A-AD37-E8552BB1F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8239AF-7DDD-4E20-A396-C051BD458AF3}" type="slidenum">
              <a:rPr lang="en-US" smtClean="0"/>
              <a:t>‹#›</a:t>
            </a:fld>
            <a:endParaRPr lang="en-US"/>
          </a:p>
        </p:txBody>
      </p:sp>
    </p:spTree>
    <p:extLst>
      <p:ext uri="{BB962C8B-B14F-4D97-AF65-F5344CB8AC3E}">
        <p14:creationId xmlns:p14="http://schemas.microsoft.com/office/powerpoint/2010/main" val="3891579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DD2E93-FAB7-FA59-C5FD-6EC869B42566}"/>
              </a:ext>
            </a:extLst>
          </p:cNvPr>
          <p:cNvSpPr>
            <a:spLocks noGrp="1"/>
          </p:cNvSpPr>
          <p:nvPr>
            <p:ph type="title"/>
          </p:nvPr>
        </p:nvSpPr>
        <p:spPr/>
        <p:txBody>
          <a:bodyPr>
            <a:normAutofit/>
          </a:bodyPr>
          <a:lstStyle/>
          <a:p>
            <a:r>
              <a:rPr lang="en-US" sz="2800" b="1" dirty="0">
                <a:latin typeface="+mn-lt"/>
              </a:rPr>
              <a:t>Hierarchical Learner Model Setup</a:t>
            </a:r>
          </a:p>
        </p:txBody>
      </p:sp>
      <p:sp>
        <p:nvSpPr>
          <p:cNvPr id="6" name="Rectangle 1">
            <a:extLst>
              <a:ext uri="{FF2B5EF4-FFF2-40B4-BE49-F238E27FC236}">
                <a16:creationId xmlns:a16="http://schemas.microsoft.com/office/drawing/2014/main" id="{08012D28-A9A7-C493-4D22-EF6E51725416}"/>
              </a:ext>
            </a:extLst>
          </p:cNvPr>
          <p:cNvSpPr>
            <a:spLocks noGrp="1" noChangeArrowheads="1"/>
          </p:cNvSpPr>
          <p:nvPr>
            <p:ph idx="1"/>
          </p:nvPr>
        </p:nvSpPr>
        <p:spPr bwMode="auto">
          <a:xfrm>
            <a:off x="682752" y="1781009"/>
            <a:ext cx="9329928" cy="2063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t>Population Structure</a:t>
            </a:r>
          </a:p>
          <a:p>
            <a:r>
              <a:rPr lang="en-US" sz="1200" b="1" dirty="0"/>
              <a:t>Number of learners:</a:t>
            </a:r>
            <a:r>
              <a:rPr lang="en-US" sz="1200" dirty="0"/>
              <a:t> 8</a:t>
            </a:r>
          </a:p>
          <a:p>
            <a:r>
              <a:rPr lang="en-US" sz="1200" b="1" dirty="0"/>
              <a:t>Number of groups:</a:t>
            </a:r>
            <a:r>
              <a:rPr lang="en-US" sz="1200" dirty="0"/>
              <a:t> 2</a:t>
            </a:r>
          </a:p>
          <a:p>
            <a:pPr lvl="1"/>
            <a:r>
              <a:rPr lang="en-US" sz="1200" dirty="0"/>
              <a:t>Group 0 → slow forgetters</a:t>
            </a:r>
          </a:p>
          <a:p>
            <a:pPr lvl="1"/>
            <a:r>
              <a:rPr lang="en-US" sz="1200" dirty="0"/>
              <a:t>Group 1 → fast forgetters</a:t>
            </a:r>
          </a:p>
          <a:p>
            <a:r>
              <a:rPr lang="en-US" sz="1200" b="1" dirty="0"/>
              <a:t>Group assignment:</a:t>
            </a:r>
            <a:endParaRPr lang="en-US" sz="1200" dirty="0"/>
          </a:p>
          <a:p>
            <a:pPr lvl="1"/>
            <a:r>
              <a:rPr lang="en-US" sz="1200" dirty="0"/>
              <a:t>Even-indexed learners → Group 0</a:t>
            </a:r>
          </a:p>
          <a:p>
            <a:pPr lvl="1"/>
            <a:r>
              <a:rPr lang="en-US" sz="1200" dirty="0"/>
              <a:t>Odd-indexed learners → Group 1</a:t>
            </a:r>
          </a:p>
        </p:txBody>
      </p:sp>
      <p:graphicFrame>
        <p:nvGraphicFramePr>
          <p:cNvPr id="2" name="Table 1">
            <a:extLst>
              <a:ext uri="{FF2B5EF4-FFF2-40B4-BE49-F238E27FC236}">
                <a16:creationId xmlns:a16="http://schemas.microsoft.com/office/drawing/2014/main" id="{D66FE3C3-759F-32D9-83FF-EAFD38386AE7}"/>
              </a:ext>
            </a:extLst>
          </p:cNvPr>
          <p:cNvGraphicFramePr>
            <a:graphicFrameLocks noGrp="1"/>
          </p:cNvGraphicFramePr>
          <p:nvPr/>
        </p:nvGraphicFramePr>
        <p:xfrm>
          <a:off x="929640" y="4391213"/>
          <a:ext cx="10515600" cy="1645920"/>
        </p:xfrm>
        <a:graphic>
          <a:graphicData uri="http://schemas.openxmlformats.org/drawingml/2006/table">
            <a:tbl>
              <a:tblPr/>
              <a:tblGrid>
                <a:gridCol w="3505200">
                  <a:extLst>
                    <a:ext uri="{9D8B030D-6E8A-4147-A177-3AD203B41FA5}">
                      <a16:colId xmlns:a16="http://schemas.microsoft.com/office/drawing/2014/main" val="2247942001"/>
                    </a:ext>
                  </a:extLst>
                </a:gridCol>
                <a:gridCol w="3505200">
                  <a:extLst>
                    <a:ext uri="{9D8B030D-6E8A-4147-A177-3AD203B41FA5}">
                      <a16:colId xmlns:a16="http://schemas.microsoft.com/office/drawing/2014/main" val="774052777"/>
                    </a:ext>
                  </a:extLst>
                </a:gridCol>
                <a:gridCol w="3505200">
                  <a:extLst>
                    <a:ext uri="{9D8B030D-6E8A-4147-A177-3AD203B41FA5}">
                      <a16:colId xmlns:a16="http://schemas.microsoft.com/office/drawing/2014/main" val="3295605543"/>
                    </a:ext>
                  </a:extLst>
                </a:gridCol>
              </a:tblGrid>
              <a:tr h="0">
                <a:tc>
                  <a:txBody>
                    <a:bodyPr/>
                    <a:lstStyle/>
                    <a:p>
                      <a:pPr>
                        <a:buNone/>
                      </a:pPr>
                      <a:r>
                        <a:rPr lang="en-US" sz="1200" dirty="0"/>
                        <a:t>Parameter</a:t>
                      </a:r>
                    </a:p>
                  </a:txBody>
                  <a:tcPr anchor="ctr">
                    <a:lnL>
                      <a:noFill/>
                    </a:lnL>
                    <a:lnR>
                      <a:noFill/>
                    </a:lnR>
                    <a:lnT>
                      <a:noFill/>
                    </a:lnT>
                    <a:lnB>
                      <a:noFill/>
                    </a:lnB>
                    <a:noFill/>
                  </a:tcPr>
                </a:tc>
                <a:tc>
                  <a:txBody>
                    <a:bodyPr/>
                    <a:lstStyle/>
                    <a:p>
                      <a:pPr>
                        <a:buNone/>
                      </a:pPr>
                      <a:r>
                        <a:rPr lang="en-US" sz="1200" dirty="0"/>
                        <a:t>Meaning</a:t>
                      </a:r>
                    </a:p>
                  </a:txBody>
                  <a:tcPr anchor="ctr">
                    <a:lnL>
                      <a:noFill/>
                    </a:lnL>
                    <a:lnR>
                      <a:noFill/>
                    </a:lnR>
                    <a:lnT>
                      <a:noFill/>
                    </a:lnT>
                    <a:lnB>
                      <a:noFill/>
                    </a:lnB>
                    <a:noFill/>
                  </a:tcPr>
                </a:tc>
                <a:tc>
                  <a:txBody>
                    <a:bodyPr/>
                    <a:lstStyle/>
                    <a:p>
                      <a:pPr>
                        <a:buNone/>
                      </a:pPr>
                      <a:r>
                        <a:rPr lang="en-US" sz="1200"/>
                        <a:t>Value Used</a:t>
                      </a:r>
                    </a:p>
                  </a:txBody>
                  <a:tcPr anchor="ctr">
                    <a:lnL>
                      <a:noFill/>
                    </a:lnL>
                    <a:lnR>
                      <a:noFill/>
                    </a:lnR>
                    <a:lnT>
                      <a:noFill/>
                    </a:lnT>
                    <a:lnB>
                      <a:noFill/>
                    </a:lnB>
                    <a:noFill/>
                  </a:tcPr>
                </a:tc>
                <a:extLst>
                  <a:ext uri="{0D108BD9-81ED-4DB2-BD59-A6C34878D82A}">
                    <a16:rowId xmlns:a16="http://schemas.microsoft.com/office/drawing/2014/main" val="3415857367"/>
                  </a:ext>
                </a:extLst>
              </a:tr>
              <a:tr h="0">
                <a:tc>
                  <a:txBody>
                    <a:bodyPr/>
                    <a:lstStyle/>
                    <a:p>
                      <a:pPr>
                        <a:buNone/>
                      </a:pPr>
                      <a:r>
                        <a:rPr lang="el-GR" sz="1200" b="1"/>
                        <a:t>α (</a:t>
                      </a:r>
                      <a:r>
                        <a:rPr lang="en-US" sz="1200" b="1"/>
                        <a:t>alpha)</a:t>
                      </a:r>
                      <a:endParaRPr lang="en-US" sz="1200"/>
                    </a:p>
                  </a:txBody>
                  <a:tcPr anchor="ctr">
                    <a:lnL>
                      <a:noFill/>
                    </a:lnL>
                    <a:lnR>
                      <a:noFill/>
                    </a:lnR>
                    <a:lnT>
                      <a:noFill/>
                    </a:lnT>
                    <a:lnB>
                      <a:noFill/>
                    </a:lnB>
                    <a:noFill/>
                  </a:tcPr>
                </a:tc>
                <a:tc>
                  <a:txBody>
                    <a:bodyPr/>
                    <a:lstStyle/>
                    <a:p>
                      <a:pPr>
                        <a:buNone/>
                      </a:pPr>
                      <a:r>
                        <a:rPr lang="en-US" sz="1200"/>
                        <a:t>Forgetting rate</a:t>
                      </a:r>
                    </a:p>
                  </a:txBody>
                  <a:tcPr anchor="ctr">
                    <a:lnL>
                      <a:noFill/>
                    </a:lnL>
                    <a:lnR>
                      <a:noFill/>
                    </a:lnR>
                    <a:lnT>
                      <a:noFill/>
                    </a:lnT>
                    <a:lnB>
                      <a:noFill/>
                    </a:lnB>
                    <a:noFill/>
                  </a:tcPr>
                </a:tc>
                <a:tc>
                  <a:txBody>
                    <a:bodyPr/>
                    <a:lstStyle/>
                    <a:p>
                      <a:pPr>
                        <a:buNone/>
                      </a:pPr>
                      <a:r>
                        <a:rPr lang="en-US" sz="1200" dirty="0"/>
                        <a:t>Group-level grid: </a:t>
                      </a:r>
                      <a:r>
                        <a:rPr lang="en-US" sz="1200" b="1" dirty="0"/>
                        <a:t>2e-6 → 6e-6</a:t>
                      </a:r>
                      <a:endParaRPr lang="en-US" sz="1200" dirty="0"/>
                    </a:p>
                  </a:txBody>
                  <a:tcPr anchor="ctr">
                    <a:lnL>
                      <a:noFill/>
                    </a:lnL>
                    <a:lnR>
                      <a:noFill/>
                    </a:lnR>
                    <a:lnT>
                      <a:noFill/>
                    </a:lnT>
                    <a:lnB>
                      <a:noFill/>
                    </a:lnB>
                    <a:noFill/>
                  </a:tcPr>
                </a:tc>
                <a:extLst>
                  <a:ext uri="{0D108BD9-81ED-4DB2-BD59-A6C34878D82A}">
                    <a16:rowId xmlns:a16="http://schemas.microsoft.com/office/drawing/2014/main" val="2780404180"/>
                  </a:ext>
                </a:extLst>
              </a:tr>
              <a:tr h="0">
                <a:tc>
                  <a:txBody>
                    <a:bodyPr/>
                    <a:lstStyle/>
                    <a:p>
                      <a:pPr>
                        <a:buNone/>
                      </a:pPr>
                      <a:endParaRPr lang="en-US" sz="1200"/>
                    </a:p>
                  </a:txBody>
                  <a:tcPr anchor="ctr">
                    <a:lnL>
                      <a:noFill/>
                    </a:lnL>
                    <a:lnR>
                      <a:noFill/>
                    </a:lnR>
                    <a:lnT>
                      <a:noFill/>
                    </a:lnT>
                    <a:lnB>
                      <a:noFill/>
                    </a:lnB>
                    <a:noFill/>
                  </a:tcPr>
                </a:tc>
                <a:tc>
                  <a:txBody>
                    <a:bodyPr/>
                    <a:lstStyle/>
                    <a:p>
                      <a:pPr>
                        <a:buNone/>
                      </a:pPr>
                      <a:endParaRPr lang="en-US" sz="1200" dirty="0"/>
                    </a:p>
                  </a:txBody>
                  <a:tcPr anchor="ctr">
                    <a:lnL>
                      <a:noFill/>
                    </a:lnL>
                    <a:lnR>
                      <a:noFill/>
                    </a:lnR>
                    <a:lnT>
                      <a:noFill/>
                    </a:lnT>
                    <a:lnB>
                      <a:noFill/>
                    </a:lnB>
                    <a:noFill/>
                  </a:tcPr>
                </a:tc>
                <a:tc>
                  <a:txBody>
                    <a:bodyPr/>
                    <a:lstStyle/>
                    <a:p>
                      <a:pPr>
                        <a:buNone/>
                      </a:pPr>
                      <a:r>
                        <a:rPr lang="en-US" sz="1200"/>
                        <a:t>Group 0: </a:t>
                      </a:r>
                      <a:r>
                        <a:rPr lang="en-US" sz="1200" b="1"/>
                        <a:t>α = 2e-6</a:t>
                      </a:r>
                      <a:r>
                        <a:rPr lang="en-US" sz="1200"/>
                        <a:t> (slow forgetting)</a:t>
                      </a:r>
                    </a:p>
                  </a:txBody>
                  <a:tcPr anchor="ctr">
                    <a:lnL>
                      <a:noFill/>
                    </a:lnL>
                    <a:lnR>
                      <a:noFill/>
                    </a:lnR>
                    <a:lnT>
                      <a:noFill/>
                    </a:lnT>
                    <a:lnB>
                      <a:noFill/>
                    </a:lnB>
                    <a:noFill/>
                  </a:tcPr>
                </a:tc>
                <a:extLst>
                  <a:ext uri="{0D108BD9-81ED-4DB2-BD59-A6C34878D82A}">
                    <a16:rowId xmlns:a16="http://schemas.microsoft.com/office/drawing/2014/main" val="2367749414"/>
                  </a:ext>
                </a:extLst>
              </a:tr>
              <a:tr h="0">
                <a:tc>
                  <a:txBody>
                    <a:bodyPr/>
                    <a:lstStyle/>
                    <a:p>
                      <a:pPr>
                        <a:buNone/>
                      </a:pPr>
                      <a:endParaRPr lang="en-US" sz="1200"/>
                    </a:p>
                  </a:txBody>
                  <a:tcPr anchor="ctr">
                    <a:lnL>
                      <a:noFill/>
                    </a:lnL>
                    <a:lnR>
                      <a:noFill/>
                    </a:lnR>
                    <a:lnT>
                      <a:noFill/>
                    </a:lnT>
                    <a:lnB>
                      <a:noFill/>
                    </a:lnB>
                    <a:noFill/>
                  </a:tcPr>
                </a:tc>
                <a:tc>
                  <a:txBody>
                    <a:bodyPr/>
                    <a:lstStyle/>
                    <a:p>
                      <a:pPr>
                        <a:buNone/>
                      </a:pPr>
                      <a:endParaRPr lang="en-US" sz="1200" dirty="0"/>
                    </a:p>
                  </a:txBody>
                  <a:tcPr anchor="ctr">
                    <a:lnL>
                      <a:noFill/>
                    </a:lnL>
                    <a:lnR>
                      <a:noFill/>
                    </a:lnR>
                    <a:lnT>
                      <a:noFill/>
                    </a:lnT>
                    <a:lnB>
                      <a:noFill/>
                    </a:lnB>
                    <a:noFill/>
                  </a:tcPr>
                </a:tc>
                <a:tc>
                  <a:txBody>
                    <a:bodyPr/>
                    <a:lstStyle/>
                    <a:p>
                      <a:pPr>
                        <a:buNone/>
                      </a:pPr>
                      <a:r>
                        <a:rPr lang="en-US" sz="1200"/>
                        <a:t>Group 1: </a:t>
                      </a:r>
                      <a:r>
                        <a:rPr lang="el-GR" sz="1200" b="1"/>
                        <a:t>α = 6</a:t>
                      </a:r>
                      <a:r>
                        <a:rPr lang="en-US" sz="1200" b="1"/>
                        <a:t>e-6</a:t>
                      </a:r>
                      <a:r>
                        <a:rPr lang="en-US" sz="1200"/>
                        <a:t> (fast forgetting)</a:t>
                      </a:r>
                    </a:p>
                  </a:txBody>
                  <a:tcPr anchor="ctr">
                    <a:lnL>
                      <a:noFill/>
                    </a:lnL>
                    <a:lnR>
                      <a:noFill/>
                    </a:lnR>
                    <a:lnT>
                      <a:noFill/>
                    </a:lnT>
                    <a:lnB>
                      <a:noFill/>
                    </a:lnB>
                    <a:noFill/>
                  </a:tcPr>
                </a:tc>
                <a:extLst>
                  <a:ext uri="{0D108BD9-81ED-4DB2-BD59-A6C34878D82A}">
                    <a16:rowId xmlns:a16="http://schemas.microsoft.com/office/drawing/2014/main" val="1867942699"/>
                  </a:ext>
                </a:extLst>
              </a:tr>
              <a:tr h="0">
                <a:tc>
                  <a:txBody>
                    <a:bodyPr/>
                    <a:lstStyle/>
                    <a:p>
                      <a:pPr>
                        <a:buNone/>
                      </a:pPr>
                      <a:r>
                        <a:rPr lang="en-US" sz="1200" b="1" dirty="0"/>
                        <a:t>Noise on </a:t>
                      </a:r>
                      <a:r>
                        <a:rPr lang="el-GR" sz="1200" b="1" dirty="0"/>
                        <a:t>α</a:t>
                      </a:r>
                      <a:endParaRPr lang="el-GR" sz="1200" dirty="0"/>
                    </a:p>
                  </a:txBody>
                  <a:tcPr anchor="ctr">
                    <a:lnL>
                      <a:noFill/>
                    </a:lnL>
                    <a:lnR>
                      <a:noFill/>
                    </a:lnR>
                    <a:lnT>
                      <a:noFill/>
                    </a:lnT>
                    <a:lnB>
                      <a:noFill/>
                    </a:lnB>
                    <a:noFill/>
                  </a:tcPr>
                </a:tc>
                <a:tc>
                  <a:txBody>
                    <a:bodyPr/>
                    <a:lstStyle/>
                    <a:p>
                      <a:pPr>
                        <a:buNone/>
                      </a:pPr>
                      <a:r>
                        <a:rPr lang="en-US" sz="1200" dirty="0"/>
                        <a:t>Individual differences</a:t>
                      </a:r>
                    </a:p>
                  </a:txBody>
                  <a:tcPr anchor="ctr">
                    <a:lnL>
                      <a:noFill/>
                    </a:lnL>
                    <a:lnR>
                      <a:noFill/>
                    </a:lnR>
                    <a:lnT>
                      <a:noFill/>
                    </a:lnT>
                    <a:lnB>
                      <a:noFill/>
                    </a:lnB>
                    <a:noFill/>
                  </a:tcPr>
                </a:tc>
                <a:tc>
                  <a:txBody>
                    <a:bodyPr/>
                    <a:lstStyle/>
                    <a:p>
                      <a:pPr>
                        <a:buNone/>
                      </a:pPr>
                      <a:r>
                        <a:rPr lang="en-US" sz="1200" dirty="0"/>
                        <a:t>± </a:t>
                      </a:r>
                      <a:r>
                        <a:rPr lang="en-US" sz="1200" b="1" dirty="0"/>
                        <a:t>12%</a:t>
                      </a:r>
                      <a:r>
                        <a:rPr lang="en-US" sz="1200" dirty="0"/>
                        <a:t>, clamped to [0.7, 1.3] multiplier</a:t>
                      </a:r>
                    </a:p>
                  </a:txBody>
                  <a:tcPr anchor="ctr">
                    <a:lnL>
                      <a:noFill/>
                    </a:lnL>
                    <a:lnR>
                      <a:noFill/>
                    </a:lnR>
                    <a:lnT>
                      <a:noFill/>
                    </a:lnT>
                    <a:lnB>
                      <a:noFill/>
                    </a:lnB>
                    <a:noFill/>
                  </a:tcPr>
                </a:tc>
                <a:extLst>
                  <a:ext uri="{0D108BD9-81ED-4DB2-BD59-A6C34878D82A}">
                    <a16:rowId xmlns:a16="http://schemas.microsoft.com/office/drawing/2014/main" val="2901660437"/>
                  </a:ext>
                </a:extLst>
              </a:tr>
              <a:tr h="0">
                <a:tc>
                  <a:txBody>
                    <a:bodyPr/>
                    <a:lstStyle/>
                    <a:p>
                      <a:pPr>
                        <a:buNone/>
                      </a:pPr>
                      <a:r>
                        <a:rPr lang="el-GR" sz="1200" b="1"/>
                        <a:t>β (</a:t>
                      </a:r>
                      <a:r>
                        <a:rPr lang="en-US" sz="1200" b="1"/>
                        <a:t>beta)</a:t>
                      </a:r>
                      <a:endParaRPr lang="en-US" sz="1200"/>
                    </a:p>
                  </a:txBody>
                  <a:tcPr anchor="ctr">
                    <a:lnL>
                      <a:noFill/>
                    </a:lnL>
                    <a:lnR>
                      <a:noFill/>
                    </a:lnR>
                    <a:lnT>
                      <a:noFill/>
                    </a:lnT>
                    <a:lnB>
                      <a:noFill/>
                    </a:lnB>
                    <a:noFill/>
                  </a:tcPr>
                </a:tc>
                <a:tc>
                  <a:txBody>
                    <a:bodyPr/>
                    <a:lstStyle/>
                    <a:p>
                      <a:pPr>
                        <a:buNone/>
                      </a:pPr>
                      <a:r>
                        <a:rPr lang="en-US" sz="1200" dirty="0"/>
                        <a:t>Learning reinforcement / strengthening</a:t>
                      </a:r>
                    </a:p>
                  </a:txBody>
                  <a:tcPr anchor="ctr">
                    <a:lnL>
                      <a:noFill/>
                    </a:lnL>
                    <a:lnR>
                      <a:noFill/>
                    </a:lnR>
                    <a:lnT>
                      <a:noFill/>
                    </a:lnT>
                    <a:lnB>
                      <a:noFill/>
                    </a:lnB>
                    <a:noFill/>
                  </a:tcPr>
                </a:tc>
                <a:tc>
                  <a:txBody>
                    <a:bodyPr/>
                    <a:lstStyle/>
                    <a:p>
                      <a:pPr>
                        <a:buNone/>
                      </a:pPr>
                      <a:r>
                        <a:rPr lang="en-US" sz="1200" b="1" dirty="0"/>
                        <a:t>Fixed at 0.5</a:t>
                      </a:r>
                      <a:r>
                        <a:rPr lang="en-US" sz="1200" dirty="0"/>
                        <a:t> for all learners</a:t>
                      </a:r>
                    </a:p>
                  </a:txBody>
                  <a:tcPr anchor="ctr">
                    <a:lnL>
                      <a:noFill/>
                    </a:lnL>
                    <a:lnR>
                      <a:noFill/>
                    </a:lnR>
                    <a:lnT>
                      <a:noFill/>
                    </a:lnT>
                    <a:lnB>
                      <a:noFill/>
                    </a:lnB>
                    <a:noFill/>
                  </a:tcPr>
                </a:tc>
                <a:extLst>
                  <a:ext uri="{0D108BD9-81ED-4DB2-BD59-A6C34878D82A}">
                    <a16:rowId xmlns:a16="http://schemas.microsoft.com/office/drawing/2014/main" val="4046605004"/>
                  </a:ext>
                </a:extLst>
              </a:tr>
            </a:tbl>
          </a:graphicData>
        </a:graphic>
      </p:graphicFrame>
      <p:sp>
        <p:nvSpPr>
          <p:cNvPr id="3" name="Rectangle 1">
            <a:extLst>
              <a:ext uri="{FF2B5EF4-FFF2-40B4-BE49-F238E27FC236}">
                <a16:creationId xmlns:a16="http://schemas.microsoft.com/office/drawing/2014/main" id="{880084C4-CA5E-5FD7-D16D-2E48D20668B8}"/>
              </a:ext>
            </a:extLst>
          </p:cNvPr>
          <p:cNvSpPr>
            <a:spLocks noChangeArrowheads="1"/>
          </p:cNvSpPr>
          <p:nvPr/>
        </p:nvSpPr>
        <p:spPr bwMode="auto">
          <a:xfrm>
            <a:off x="929640" y="3934459"/>
            <a:ext cx="281865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rPr>
              <a:t>Memory Model Parameters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065379C2-E6AE-B095-C84F-3B4371EE60A6}"/>
              </a:ext>
            </a:extLst>
          </p:cNvPr>
          <p:cNvSpPr txBox="1"/>
          <p:nvPr/>
        </p:nvSpPr>
        <p:spPr>
          <a:xfrm>
            <a:off x="7006580" y="1158098"/>
            <a:ext cx="4569714" cy="2554545"/>
          </a:xfrm>
          <a:prstGeom prst="rect">
            <a:avLst/>
          </a:prstGeom>
          <a:noFill/>
        </p:spPr>
        <p:txBody>
          <a:bodyPr wrap="square">
            <a:spAutoFit/>
          </a:bodyPr>
          <a:lstStyle/>
          <a:p>
            <a:pPr>
              <a:buNone/>
            </a:pPr>
            <a:r>
              <a:rPr lang="en-US" sz="1600" b="1" dirty="0"/>
              <a:t>Per-Learner Final </a:t>
            </a:r>
            <a:r>
              <a:rPr lang="el-GR" sz="1600" b="1" dirty="0"/>
              <a:t>α </a:t>
            </a:r>
            <a:r>
              <a:rPr lang="en-US" sz="1600" b="1" dirty="0"/>
              <a:t>Values</a:t>
            </a:r>
          </a:p>
          <a:p>
            <a:pPr>
              <a:buNone/>
            </a:pPr>
            <a:r>
              <a:rPr lang="en-US" sz="1600" dirty="0"/>
              <a:t>Each learner gets:</a:t>
            </a:r>
            <a:br>
              <a:rPr lang="en-US" sz="1600" dirty="0"/>
            </a:br>
            <a:r>
              <a:rPr lang="el-GR" sz="1600" b="1" dirty="0"/>
              <a:t>α</a:t>
            </a:r>
            <a:r>
              <a:rPr lang="en-US" sz="1600" b="1" dirty="0"/>
              <a:t>ₗ = </a:t>
            </a:r>
            <a:r>
              <a:rPr lang="el-GR" sz="1600" b="1" dirty="0"/>
              <a:t>α_</a:t>
            </a:r>
            <a:r>
              <a:rPr lang="en-US" sz="1600" b="1" dirty="0"/>
              <a:t>group × (1 ± noise)</a:t>
            </a:r>
            <a:br>
              <a:rPr lang="en-US" sz="1600" dirty="0"/>
            </a:br>
            <a:r>
              <a:rPr lang="en-US" sz="1600" dirty="0"/>
              <a:t>Example:</a:t>
            </a:r>
          </a:p>
          <a:p>
            <a:pPr>
              <a:buFont typeface="Arial" panose="020B0604020202020204" pitchFamily="34" charset="0"/>
              <a:buChar char="•"/>
            </a:pPr>
            <a:r>
              <a:rPr lang="en-US" sz="1600" dirty="0"/>
              <a:t>L0 ≈ 2.08e-6</a:t>
            </a:r>
          </a:p>
          <a:p>
            <a:pPr>
              <a:buFont typeface="Arial" panose="020B0604020202020204" pitchFamily="34" charset="0"/>
              <a:buChar char="•"/>
            </a:pPr>
            <a:r>
              <a:rPr lang="en-US" sz="1600" dirty="0"/>
              <a:t>L1 ≈ 5.92e-6</a:t>
            </a:r>
          </a:p>
          <a:p>
            <a:pPr>
              <a:buFont typeface="Arial" panose="020B0604020202020204" pitchFamily="34" charset="0"/>
              <a:buChar char="•"/>
            </a:pPr>
            <a:r>
              <a:rPr lang="en-US" sz="1600" dirty="0"/>
              <a:t>L2 ≈ 1.84e-6</a:t>
            </a:r>
          </a:p>
          <a:p>
            <a:pPr>
              <a:buFont typeface="Arial" panose="020B0604020202020204" pitchFamily="34" charset="0"/>
              <a:buChar char="•"/>
            </a:pPr>
            <a:r>
              <a:rPr lang="en-US" sz="1600" dirty="0"/>
              <a:t>L3 ≈ 6.12e-6</a:t>
            </a:r>
            <a:br>
              <a:rPr lang="en-US" sz="1600" dirty="0"/>
            </a:br>
            <a:r>
              <a:rPr lang="en-US" sz="1600" dirty="0"/>
              <a:t>(Actual values vary slightly per run due to noise + seed)</a:t>
            </a:r>
          </a:p>
        </p:txBody>
      </p:sp>
    </p:spTree>
    <p:extLst>
      <p:ext uri="{BB962C8B-B14F-4D97-AF65-F5344CB8AC3E}">
        <p14:creationId xmlns:p14="http://schemas.microsoft.com/office/powerpoint/2010/main" val="3004073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2B72BF-91FD-527A-B7B5-0850A480D0E8}"/>
              </a:ext>
            </a:extLst>
          </p:cNvPr>
          <p:cNvSpPr txBox="1"/>
          <p:nvPr/>
        </p:nvSpPr>
        <p:spPr>
          <a:xfrm>
            <a:off x="765048" y="0"/>
            <a:ext cx="10308336" cy="6771084"/>
          </a:xfrm>
          <a:prstGeom prst="rect">
            <a:avLst/>
          </a:prstGeom>
          <a:noFill/>
        </p:spPr>
        <p:txBody>
          <a:bodyPr wrap="square">
            <a:spAutoFit/>
          </a:bodyPr>
          <a:lstStyle/>
          <a:p>
            <a:pPr>
              <a:buNone/>
            </a:pPr>
            <a:r>
              <a:rPr lang="en-US" sz="1400" b="1" dirty="0"/>
              <a:t>Experiment 1 — Baseline vs Hierarchical</a:t>
            </a:r>
          </a:p>
          <a:p>
            <a:pPr>
              <a:buNone/>
            </a:pPr>
            <a:r>
              <a:rPr lang="en-US" sz="1400" b="1" dirty="0"/>
              <a:t>Research Question</a:t>
            </a:r>
          </a:p>
          <a:p>
            <a:pPr>
              <a:buNone/>
            </a:pPr>
            <a:r>
              <a:rPr lang="en-US" sz="1400" dirty="0"/>
              <a:t>Does introducing hierarchy (group-level </a:t>
            </a:r>
            <a:r>
              <a:rPr lang="el-GR" sz="1400" dirty="0"/>
              <a:t>α </a:t>
            </a:r>
            <a:r>
              <a:rPr lang="en-US" sz="1400" dirty="0"/>
              <a:t>modeling) improve learning compared to a flat multi-learner PPO setup?</a:t>
            </a:r>
          </a:p>
          <a:p>
            <a:pPr>
              <a:buNone/>
            </a:pPr>
            <a:br>
              <a:rPr lang="en-US" sz="1400" dirty="0"/>
            </a:br>
            <a:endParaRPr lang="en-US" sz="1400" dirty="0"/>
          </a:p>
          <a:p>
            <a:pPr>
              <a:buNone/>
            </a:pPr>
            <a:r>
              <a:rPr lang="en-US" sz="1400" b="1" dirty="0"/>
              <a:t> Experimental Setup:</a:t>
            </a:r>
          </a:p>
          <a:p>
            <a:pPr>
              <a:buFont typeface="Arial" panose="020B0604020202020204" pitchFamily="34" charset="0"/>
              <a:buChar char="•"/>
            </a:pPr>
            <a:r>
              <a:rPr lang="en-US" sz="1400" dirty="0"/>
              <a:t>8 learners with heterogeneous forgetting rates (</a:t>
            </a:r>
            <a:r>
              <a:rPr lang="el-GR" sz="1400" dirty="0"/>
              <a:t>α)</a:t>
            </a:r>
          </a:p>
          <a:p>
            <a:pPr>
              <a:buFont typeface="Arial" panose="020B0604020202020204" pitchFamily="34" charset="0"/>
              <a:buChar char="•"/>
            </a:pPr>
            <a:r>
              <a:rPr lang="en-US" sz="1400" dirty="0"/>
              <a:t>Same PPO configuration</a:t>
            </a:r>
          </a:p>
          <a:p>
            <a:pPr>
              <a:buFont typeface="Arial" panose="020B0604020202020204" pitchFamily="34" charset="0"/>
              <a:buChar char="•"/>
            </a:pPr>
            <a:r>
              <a:rPr lang="en-US" sz="1400" dirty="0"/>
              <a:t>Same reward function</a:t>
            </a:r>
          </a:p>
          <a:p>
            <a:pPr>
              <a:buFont typeface="Arial" panose="020B0604020202020204" pitchFamily="34" charset="0"/>
              <a:buChar char="•"/>
            </a:pPr>
            <a:r>
              <a:rPr lang="en-US" sz="1400" dirty="0"/>
              <a:t>Same horizon and item count(200 items,1500 horizon)</a:t>
            </a:r>
          </a:p>
          <a:p>
            <a:pPr>
              <a:buNone/>
            </a:pPr>
            <a:r>
              <a:rPr lang="en-US" sz="1400" b="1" dirty="0"/>
              <a:t>Baseline:</a:t>
            </a:r>
            <a:br>
              <a:rPr lang="en-US" sz="1400" dirty="0"/>
            </a:br>
            <a:r>
              <a:rPr lang="en-US" sz="1400" dirty="0"/>
              <a:t>Flat PPO policy across all learners</a:t>
            </a:r>
          </a:p>
          <a:p>
            <a:pPr>
              <a:buNone/>
            </a:pPr>
            <a:r>
              <a:rPr lang="en-US" sz="1400" b="1" dirty="0"/>
              <a:t>Hierarchical:</a:t>
            </a:r>
            <a:br>
              <a:rPr lang="en-US" sz="1400" dirty="0"/>
            </a:br>
            <a:r>
              <a:rPr lang="en-US" sz="1400" dirty="0"/>
              <a:t>Group-level structure with shared </a:t>
            </a:r>
            <a:r>
              <a:rPr lang="el-GR" sz="1400" dirty="0"/>
              <a:t>α </a:t>
            </a:r>
            <a:r>
              <a:rPr lang="en-US" sz="1400" dirty="0"/>
              <a:t>representation</a:t>
            </a:r>
          </a:p>
          <a:p>
            <a:pPr>
              <a:buNone/>
            </a:pPr>
            <a:br>
              <a:rPr lang="en-US" sz="1400" dirty="0"/>
            </a:br>
            <a:endParaRPr lang="en-US" sz="1400" dirty="0"/>
          </a:p>
          <a:p>
            <a:pPr>
              <a:buNone/>
            </a:pPr>
            <a:r>
              <a:rPr lang="en-US" sz="1400" b="1" dirty="0"/>
              <a:t> Evaluation Metrics:</a:t>
            </a:r>
          </a:p>
          <a:p>
            <a:pPr>
              <a:buFont typeface="Arial" panose="020B0604020202020204" pitchFamily="34" charset="0"/>
              <a:buChar char="•"/>
            </a:pPr>
            <a:r>
              <a:rPr lang="en-US" sz="1400" dirty="0"/>
              <a:t>Global total mastered items</a:t>
            </a:r>
          </a:p>
          <a:p>
            <a:pPr>
              <a:buFont typeface="Arial" panose="020B0604020202020204" pitchFamily="34" charset="0"/>
              <a:buChar char="•"/>
            </a:pPr>
            <a:r>
              <a:rPr lang="en-US" sz="1400" dirty="0"/>
              <a:t>Rollout mean reward</a:t>
            </a:r>
          </a:p>
          <a:p>
            <a:pPr>
              <a:buFont typeface="Arial" panose="020B0604020202020204" pitchFamily="34" charset="0"/>
              <a:buChar char="•"/>
            </a:pPr>
            <a:r>
              <a:rPr lang="en-US" sz="1400" dirty="0"/>
              <a:t>Per-learner / per-group mastery distribution</a:t>
            </a:r>
          </a:p>
          <a:p>
            <a:pPr>
              <a:buNone/>
            </a:pPr>
            <a:br>
              <a:rPr lang="en-US" sz="1400" dirty="0"/>
            </a:br>
            <a:endParaRPr lang="en-US" sz="1400" dirty="0"/>
          </a:p>
          <a:p>
            <a:pPr>
              <a:buNone/>
            </a:pPr>
            <a:r>
              <a:rPr lang="en-US" sz="1400" b="1" dirty="0"/>
              <a:t> Why This Matters</a:t>
            </a:r>
          </a:p>
          <a:p>
            <a:pPr>
              <a:buNone/>
            </a:pPr>
            <a:r>
              <a:rPr lang="en-US" sz="1400" dirty="0"/>
              <a:t>Flat PPO may:</a:t>
            </a:r>
          </a:p>
          <a:p>
            <a:pPr>
              <a:buFont typeface="Arial" panose="020B0604020202020204" pitchFamily="34" charset="0"/>
              <a:buChar char="•"/>
            </a:pPr>
            <a:r>
              <a:rPr lang="en-US" sz="1400" dirty="0"/>
              <a:t>Favor easier learners</a:t>
            </a:r>
          </a:p>
          <a:p>
            <a:pPr>
              <a:buFont typeface="Arial" panose="020B0604020202020204" pitchFamily="34" charset="0"/>
              <a:buChar char="•"/>
            </a:pPr>
            <a:r>
              <a:rPr lang="en-US" sz="1400" dirty="0"/>
              <a:t>Neglect high-</a:t>
            </a:r>
            <a:r>
              <a:rPr lang="el-GR" sz="1400" dirty="0"/>
              <a:t>α </a:t>
            </a:r>
            <a:r>
              <a:rPr lang="en-US" sz="1400" dirty="0"/>
              <a:t>learners</a:t>
            </a:r>
          </a:p>
          <a:p>
            <a:pPr>
              <a:buFont typeface="Arial" panose="020B0604020202020204" pitchFamily="34" charset="0"/>
              <a:buChar char="•"/>
            </a:pPr>
            <a:r>
              <a:rPr lang="en-US" sz="1400" dirty="0"/>
              <a:t>Struggle with credit assignment</a:t>
            </a:r>
          </a:p>
          <a:p>
            <a:pPr>
              <a:buNone/>
            </a:pPr>
            <a:r>
              <a:rPr lang="en-US" sz="1400" dirty="0"/>
              <a:t>Hierarchy may:</a:t>
            </a:r>
          </a:p>
          <a:p>
            <a:pPr>
              <a:buFont typeface="Arial" panose="020B0604020202020204" pitchFamily="34" charset="0"/>
              <a:buChar char="•"/>
            </a:pPr>
            <a:r>
              <a:rPr lang="en-US" sz="1400" dirty="0"/>
              <a:t>Improve allocation</a:t>
            </a:r>
          </a:p>
          <a:p>
            <a:pPr>
              <a:buFont typeface="Arial" panose="020B0604020202020204" pitchFamily="34" charset="0"/>
              <a:buChar char="•"/>
            </a:pPr>
            <a:r>
              <a:rPr lang="en-US" sz="1400" dirty="0"/>
              <a:t>Improve fairness</a:t>
            </a:r>
          </a:p>
          <a:p>
            <a:pPr>
              <a:buFont typeface="Arial" panose="020B0604020202020204" pitchFamily="34" charset="0"/>
              <a:buChar char="•"/>
            </a:pPr>
            <a:r>
              <a:rPr lang="en-US" sz="1400" dirty="0"/>
              <a:t>Improve overall retention</a:t>
            </a:r>
          </a:p>
        </p:txBody>
      </p:sp>
    </p:spTree>
    <p:extLst>
      <p:ext uri="{BB962C8B-B14F-4D97-AF65-F5344CB8AC3E}">
        <p14:creationId xmlns:p14="http://schemas.microsoft.com/office/powerpoint/2010/main" val="3052353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4C63875-6D09-64AD-B20D-14EA105C880B}"/>
              </a:ext>
            </a:extLst>
          </p:cNvPr>
          <p:cNvSpPr txBox="1"/>
          <p:nvPr/>
        </p:nvSpPr>
        <p:spPr>
          <a:xfrm>
            <a:off x="532638" y="605040"/>
            <a:ext cx="10504170" cy="5262979"/>
          </a:xfrm>
          <a:prstGeom prst="rect">
            <a:avLst/>
          </a:prstGeom>
          <a:noFill/>
        </p:spPr>
        <p:txBody>
          <a:bodyPr wrap="square">
            <a:spAutoFit/>
          </a:bodyPr>
          <a:lstStyle/>
          <a:p>
            <a:pPr>
              <a:buNone/>
            </a:pPr>
            <a:r>
              <a:rPr lang="en-US" b="1" dirty="0"/>
              <a:t>Key Observations</a:t>
            </a:r>
          </a:p>
          <a:p>
            <a:pPr>
              <a:buNone/>
            </a:pPr>
            <a:r>
              <a:rPr lang="en-US" b="1" dirty="0"/>
              <a:t>Baseline:</a:t>
            </a:r>
          </a:p>
          <a:p>
            <a:pPr lvl="0" eaLnBrk="0" fontAlgn="base" hangingPunct="0">
              <a:spcBef>
                <a:spcPct val="0"/>
              </a:spcBef>
              <a:spcAft>
                <a:spcPct val="0"/>
              </a:spcAft>
              <a:buFontTx/>
              <a:buChar char="•"/>
            </a:pPr>
            <a:r>
              <a:rPr lang="en-US" altLang="en-US" sz="1400" dirty="0">
                <a:latin typeface="Arial" panose="020B0604020202020204" pitchFamily="34" charset="0"/>
              </a:rPr>
              <a:t>The model learns and training is stable.</a:t>
            </a:r>
          </a:p>
          <a:p>
            <a:pPr lvl="0" eaLnBrk="0" fontAlgn="base" hangingPunct="0">
              <a:spcBef>
                <a:spcPct val="0"/>
              </a:spcBef>
              <a:spcAft>
                <a:spcPct val="0"/>
              </a:spcAft>
              <a:buFontTx/>
              <a:buChar char="•"/>
            </a:pPr>
            <a:r>
              <a:rPr lang="en-US" altLang="en-US" sz="1400" dirty="0">
                <a:latin typeface="Arial" panose="020B0604020202020204" pitchFamily="34" charset="0"/>
              </a:rPr>
              <a:t>Overall performance is decent.</a:t>
            </a:r>
          </a:p>
          <a:p>
            <a:pPr lvl="0" eaLnBrk="0" fontAlgn="base" hangingPunct="0">
              <a:spcBef>
                <a:spcPct val="0"/>
              </a:spcBef>
              <a:spcAft>
                <a:spcPct val="0"/>
              </a:spcAft>
              <a:buFontTx/>
              <a:buChar char="•"/>
            </a:pPr>
            <a:r>
              <a:rPr lang="en-US" altLang="en-US" sz="1400" dirty="0">
                <a:latin typeface="Arial" panose="020B0604020202020204" pitchFamily="34" charset="0"/>
              </a:rPr>
              <a:t>But some learners improve much more than others.</a:t>
            </a:r>
          </a:p>
          <a:p>
            <a:pPr lvl="0" eaLnBrk="0" fontAlgn="base" hangingPunct="0">
              <a:spcBef>
                <a:spcPct val="0"/>
              </a:spcBef>
              <a:spcAft>
                <a:spcPct val="0"/>
              </a:spcAft>
              <a:buFontTx/>
              <a:buChar char="•"/>
            </a:pPr>
            <a:r>
              <a:rPr lang="en-US" altLang="en-US" sz="1400" dirty="0">
                <a:latin typeface="Arial" panose="020B0604020202020204" pitchFamily="34" charset="0"/>
              </a:rPr>
              <a:t>A few learners stay low while others get most of the attention.</a:t>
            </a:r>
          </a:p>
          <a:p>
            <a:pPr lvl="0" eaLnBrk="0" fontAlgn="base" hangingPunct="0">
              <a:spcBef>
                <a:spcPct val="0"/>
              </a:spcBef>
              <a:spcAft>
                <a:spcPct val="0"/>
              </a:spcAft>
              <a:buFontTx/>
              <a:buChar char="•"/>
            </a:pPr>
            <a:r>
              <a:rPr lang="en-US" altLang="en-US" sz="1400" dirty="0">
                <a:latin typeface="Arial" panose="020B0604020202020204" pitchFamily="34" charset="0"/>
              </a:rPr>
              <a:t>The model keeps shifting focus between learners.</a:t>
            </a:r>
          </a:p>
          <a:p>
            <a:pPr lvl="0" eaLnBrk="0" fontAlgn="base" hangingPunct="0">
              <a:spcBef>
                <a:spcPct val="0"/>
              </a:spcBef>
              <a:spcAft>
                <a:spcPct val="0"/>
              </a:spcAft>
              <a:buFontTx/>
              <a:buChar char="•"/>
            </a:pPr>
            <a:r>
              <a:rPr lang="en-US" altLang="en-US" sz="1400" dirty="0">
                <a:latin typeface="Arial" panose="020B0604020202020204" pitchFamily="34" charset="0"/>
              </a:rPr>
              <a:t>Learning is uneven </a:t>
            </a:r>
            <a:br>
              <a:rPr lang="en-US" altLang="en-US" dirty="0">
                <a:latin typeface="Arial" panose="020B0604020202020204" pitchFamily="34" charset="0"/>
              </a:rPr>
            </a:br>
            <a:r>
              <a:rPr lang="en-US" b="1" dirty="0"/>
              <a:t>Hierarchical:</a:t>
            </a:r>
          </a:p>
          <a:p>
            <a:pPr lvl="0" eaLnBrk="0" fontAlgn="base" hangingPunct="0">
              <a:spcBef>
                <a:spcPct val="0"/>
              </a:spcBef>
              <a:spcAft>
                <a:spcPct val="0"/>
              </a:spcAft>
              <a:buFontTx/>
              <a:buChar char="•"/>
            </a:pPr>
            <a:r>
              <a:rPr lang="en-US" altLang="en-US" sz="1400" dirty="0">
                <a:latin typeface="Arial" panose="020B0604020202020204" pitchFamily="34" charset="0"/>
              </a:rPr>
              <a:t>The model learns slightly better overall.</a:t>
            </a:r>
          </a:p>
          <a:p>
            <a:pPr lvl="0" eaLnBrk="0" fontAlgn="base" hangingPunct="0">
              <a:spcBef>
                <a:spcPct val="0"/>
              </a:spcBef>
              <a:spcAft>
                <a:spcPct val="0"/>
              </a:spcAft>
              <a:buFontTx/>
              <a:buChar char="•"/>
            </a:pPr>
            <a:r>
              <a:rPr lang="en-US" altLang="en-US" sz="1400" dirty="0">
                <a:latin typeface="Arial" panose="020B0604020202020204" pitchFamily="34" charset="0"/>
              </a:rPr>
              <a:t>Total mastered items are higher.</a:t>
            </a:r>
          </a:p>
          <a:p>
            <a:pPr lvl="0" eaLnBrk="0" fontAlgn="base" hangingPunct="0">
              <a:spcBef>
                <a:spcPct val="0"/>
              </a:spcBef>
              <a:spcAft>
                <a:spcPct val="0"/>
              </a:spcAft>
              <a:buFontTx/>
              <a:buChar char="•"/>
            </a:pPr>
            <a:r>
              <a:rPr lang="en-US" altLang="en-US" sz="1400" dirty="0">
                <a:latin typeface="Arial" panose="020B0604020202020204" pitchFamily="34" charset="0"/>
              </a:rPr>
              <a:t>Both groups improve more evenly.</a:t>
            </a:r>
          </a:p>
          <a:p>
            <a:pPr lvl="0" eaLnBrk="0" fontAlgn="base" hangingPunct="0">
              <a:spcBef>
                <a:spcPct val="0"/>
              </a:spcBef>
              <a:spcAft>
                <a:spcPct val="0"/>
              </a:spcAft>
              <a:buFontTx/>
              <a:buChar char="•"/>
            </a:pPr>
            <a:r>
              <a:rPr lang="en-US" altLang="en-US" sz="1400" dirty="0">
                <a:latin typeface="Arial" panose="020B0604020202020204" pitchFamily="34" charset="0"/>
              </a:rPr>
              <a:t>No group is clearly ignored.</a:t>
            </a:r>
          </a:p>
          <a:p>
            <a:pPr lvl="0" eaLnBrk="0" fontAlgn="base" hangingPunct="0">
              <a:spcBef>
                <a:spcPct val="0"/>
              </a:spcBef>
              <a:spcAft>
                <a:spcPct val="0"/>
              </a:spcAft>
              <a:buFontTx/>
              <a:buChar char="•"/>
            </a:pPr>
            <a:r>
              <a:rPr lang="en-US" altLang="en-US" sz="1400" dirty="0">
                <a:latin typeface="Arial" panose="020B0604020202020204" pitchFamily="34" charset="0"/>
              </a:rPr>
              <a:t>Learning is more balanced and structured.</a:t>
            </a:r>
          </a:p>
          <a:p>
            <a:pPr>
              <a:buNone/>
            </a:pPr>
            <a:br>
              <a:rPr lang="en-US" dirty="0"/>
            </a:br>
            <a:endParaRPr lang="en-US" dirty="0"/>
          </a:p>
          <a:p>
            <a:pPr>
              <a:buNone/>
            </a:pPr>
            <a:r>
              <a:rPr lang="en-US" b="1" dirty="0"/>
              <a:t>Inference</a:t>
            </a:r>
          </a:p>
          <a:p>
            <a:pPr>
              <a:buNone/>
            </a:pPr>
            <a:r>
              <a:rPr lang="en-US" sz="1400" dirty="0"/>
              <a:t>Hierarchy improves:</a:t>
            </a:r>
          </a:p>
          <a:p>
            <a:pPr>
              <a:buFont typeface="Arial" panose="020B0604020202020204" pitchFamily="34" charset="0"/>
              <a:buChar char="•"/>
            </a:pPr>
            <a:r>
              <a:rPr lang="en-US" sz="1400" dirty="0"/>
              <a:t>Credit assignment</a:t>
            </a:r>
          </a:p>
          <a:p>
            <a:pPr>
              <a:buFont typeface="Arial" panose="020B0604020202020204" pitchFamily="34" charset="0"/>
              <a:buChar char="•"/>
            </a:pPr>
            <a:r>
              <a:rPr lang="en-US" sz="1400" dirty="0"/>
              <a:t>Resource allocation</a:t>
            </a:r>
          </a:p>
          <a:p>
            <a:pPr>
              <a:buFont typeface="Arial" panose="020B0604020202020204" pitchFamily="34" charset="0"/>
              <a:buChar char="•"/>
            </a:pPr>
            <a:r>
              <a:rPr lang="en-US" sz="1400" dirty="0"/>
              <a:t>Learning stability across heterogeneous learners</a:t>
            </a:r>
          </a:p>
          <a:p>
            <a:pPr>
              <a:buNone/>
            </a:pPr>
            <a:r>
              <a:rPr lang="en-US" sz="1400" dirty="0"/>
              <a:t>It acts as a structural regularize in multi-learner PPO</a:t>
            </a:r>
            <a:r>
              <a:rPr lang="en-US" dirty="0"/>
              <a:t>.</a:t>
            </a:r>
          </a:p>
        </p:txBody>
      </p:sp>
      <p:graphicFrame>
        <p:nvGraphicFramePr>
          <p:cNvPr id="12" name="Table 11">
            <a:extLst>
              <a:ext uri="{FF2B5EF4-FFF2-40B4-BE49-F238E27FC236}">
                <a16:creationId xmlns:a16="http://schemas.microsoft.com/office/drawing/2014/main" id="{3D81F8A5-587E-A59A-1B2A-D1F913A57A1A}"/>
              </a:ext>
            </a:extLst>
          </p:cNvPr>
          <p:cNvGraphicFramePr>
            <a:graphicFrameLocks noGrp="1"/>
          </p:cNvGraphicFramePr>
          <p:nvPr>
            <p:extLst>
              <p:ext uri="{D42A27DB-BD31-4B8C-83A1-F6EECF244321}">
                <p14:modId xmlns:p14="http://schemas.microsoft.com/office/powerpoint/2010/main" val="408045869"/>
              </p:ext>
            </p:extLst>
          </p:nvPr>
        </p:nvGraphicFramePr>
        <p:xfrm>
          <a:off x="5174742" y="3429000"/>
          <a:ext cx="6639306" cy="1463040"/>
        </p:xfrm>
        <a:graphic>
          <a:graphicData uri="http://schemas.openxmlformats.org/drawingml/2006/table">
            <a:tbl>
              <a:tblPr/>
              <a:tblGrid>
                <a:gridCol w="2213102">
                  <a:extLst>
                    <a:ext uri="{9D8B030D-6E8A-4147-A177-3AD203B41FA5}">
                      <a16:colId xmlns:a16="http://schemas.microsoft.com/office/drawing/2014/main" val="950583548"/>
                    </a:ext>
                  </a:extLst>
                </a:gridCol>
                <a:gridCol w="2213102">
                  <a:extLst>
                    <a:ext uri="{9D8B030D-6E8A-4147-A177-3AD203B41FA5}">
                      <a16:colId xmlns:a16="http://schemas.microsoft.com/office/drawing/2014/main" val="97043003"/>
                    </a:ext>
                  </a:extLst>
                </a:gridCol>
                <a:gridCol w="2213102">
                  <a:extLst>
                    <a:ext uri="{9D8B030D-6E8A-4147-A177-3AD203B41FA5}">
                      <a16:colId xmlns:a16="http://schemas.microsoft.com/office/drawing/2014/main" val="458746584"/>
                    </a:ext>
                  </a:extLst>
                </a:gridCol>
              </a:tblGrid>
              <a:tr h="0">
                <a:tc>
                  <a:txBody>
                    <a:bodyPr/>
                    <a:lstStyle/>
                    <a:p>
                      <a:pPr>
                        <a:buNone/>
                      </a:pPr>
                      <a:r>
                        <a:rPr lang="en-US"/>
                        <a:t>Metric</a:t>
                      </a:r>
                    </a:p>
                  </a:txBody>
                  <a:tcPr anchor="ctr">
                    <a:lnL>
                      <a:noFill/>
                    </a:lnL>
                    <a:lnR>
                      <a:noFill/>
                    </a:lnR>
                    <a:lnT>
                      <a:noFill/>
                    </a:lnT>
                    <a:lnB>
                      <a:noFill/>
                    </a:lnB>
                    <a:noFill/>
                  </a:tcPr>
                </a:tc>
                <a:tc>
                  <a:txBody>
                    <a:bodyPr/>
                    <a:lstStyle/>
                    <a:p>
                      <a:pPr>
                        <a:buNone/>
                      </a:pPr>
                      <a:r>
                        <a:rPr lang="en-US" dirty="0"/>
                        <a:t>Baseline</a:t>
                      </a:r>
                    </a:p>
                  </a:txBody>
                  <a:tcPr anchor="ctr">
                    <a:lnL>
                      <a:noFill/>
                    </a:lnL>
                    <a:lnR>
                      <a:noFill/>
                    </a:lnR>
                    <a:lnT>
                      <a:noFill/>
                    </a:lnT>
                    <a:lnB>
                      <a:noFill/>
                    </a:lnB>
                    <a:noFill/>
                  </a:tcPr>
                </a:tc>
                <a:tc>
                  <a:txBody>
                    <a:bodyPr/>
                    <a:lstStyle/>
                    <a:p>
                      <a:pPr>
                        <a:buNone/>
                      </a:pPr>
                      <a:r>
                        <a:rPr lang="en-US"/>
                        <a:t>Hierarchical</a:t>
                      </a:r>
                    </a:p>
                  </a:txBody>
                  <a:tcPr anchor="ctr">
                    <a:lnL>
                      <a:noFill/>
                    </a:lnL>
                    <a:lnR>
                      <a:noFill/>
                    </a:lnR>
                    <a:lnT>
                      <a:noFill/>
                    </a:lnT>
                    <a:lnB>
                      <a:noFill/>
                    </a:lnB>
                    <a:noFill/>
                  </a:tcPr>
                </a:tc>
                <a:extLst>
                  <a:ext uri="{0D108BD9-81ED-4DB2-BD59-A6C34878D82A}">
                    <a16:rowId xmlns:a16="http://schemas.microsoft.com/office/drawing/2014/main" val="438063985"/>
                  </a:ext>
                </a:extLst>
              </a:tr>
              <a:tr h="0">
                <a:tc>
                  <a:txBody>
                    <a:bodyPr/>
                    <a:lstStyle/>
                    <a:p>
                      <a:pPr>
                        <a:buNone/>
                      </a:pPr>
                      <a:r>
                        <a:rPr lang="en-US"/>
                        <a:t>Smoothed Mastery</a:t>
                      </a:r>
                    </a:p>
                  </a:txBody>
                  <a:tcPr anchor="ctr">
                    <a:lnL>
                      <a:noFill/>
                    </a:lnL>
                    <a:lnR>
                      <a:noFill/>
                    </a:lnR>
                    <a:lnT>
                      <a:noFill/>
                    </a:lnT>
                    <a:lnB>
                      <a:noFill/>
                    </a:lnB>
                    <a:noFill/>
                  </a:tcPr>
                </a:tc>
                <a:tc>
                  <a:txBody>
                    <a:bodyPr/>
                    <a:lstStyle/>
                    <a:p>
                      <a:pPr>
                        <a:buNone/>
                      </a:pPr>
                      <a:r>
                        <a:rPr lang="en-US" dirty="0"/>
                        <a:t>63.7</a:t>
                      </a:r>
                    </a:p>
                  </a:txBody>
                  <a:tcPr anchor="ctr">
                    <a:lnL>
                      <a:noFill/>
                    </a:lnL>
                    <a:lnR>
                      <a:noFill/>
                    </a:lnR>
                    <a:lnT>
                      <a:noFill/>
                    </a:lnT>
                    <a:lnB>
                      <a:noFill/>
                    </a:lnB>
                    <a:noFill/>
                  </a:tcPr>
                </a:tc>
                <a:tc>
                  <a:txBody>
                    <a:bodyPr/>
                    <a:lstStyle/>
                    <a:p>
                      <a:pPr>
                        <a:buNone/>
                      </a:pPr>
                      <a:r>
                        <a:rPr lang="en-US"/>
                        <a:t>71.4</a:t>
                      </a:r>
                    </a:p>
                  </a:txBody>
                  <a:tcPr anchor="ctr">
                    <a:lnL>
                      <a:noFill/>
                    </a:lnL>
                    <a:lnR>
                      <a:noFill/>
                    </a:lnR>
                    <a:lnT>
                      <a:noFill/>
                    </a:lnT>
                    <a:lnB>
                      <a:noFill/>
                    </a:lnB>
                    <a:noFill/>
                  </a:tcPr>
                </a:tc>
                <a:extLst>
                  <a:ext uri="{0D108BD9-81ED-4DB2-BD59-A6C34878D82A}">
                    <a16:rowId xmlns:a16="http://schemas.microsoft.com/office/drawing/2014/main" val="1164750854"/>
                  </a:ext>
                </a:extLst>
              </a:tr>
              <a:tr h="0">
                <a:tc>
                  <a:txBody>
                    <a:bodyPr/>
                    <a:lstStyle/>
                    <a:p>
                      <a:pPr>
                        <a:buNone/>
                      </a:pPr>
                      <a:r>
                        <a:rPr lang="en-US" dirty="0"/>
                        <a:t>Final Mastery</a:t>
                      </a:r>
                    </a:p>
                  </a:txBody>
                  <a:tcPr anchor="ctr">
                    <a:lnL>
                      <a:noFill/>
                    </a:lnL>
                    <a:lnR>
                      <a:noFill/>
                    </a:lnR>
                    <a:lnT>
                      <a:noFill/>
                    </a:lnT>
                    <a:lnB>
                      <a:noFill/>
                    </a:lnB>
                    <a:noFill/>
                  </a:tcPr>
                </a:tc>
                <a:tc>
                  <a:txBody>
                    <a:bodyPr/>
                    <a:lstStyle/>
                    <a:p>
                      <a:pPr>
                        <a:buNone/>
                      </a:pPr>
                      <a:r>
                        <a:rPr lang="en-US" dirty="0"/>
                        <a:t>84</a:t>
                      </a:r>
                    </a:p>
                  </a:txBody>
                  <a:tcPr anchor="ctr">
                    <a:lnL>
                      <a:noFill/>
                    </a:lnL>
                    <a:lnR>
                      <a:noFill/>
                    </a:lnR>
                    <a:lnT>
                      <a:noFill/>
                    </a:lnT>
                    <a:lnB>
                      <a:noFill/>
                    </a:lnB>
                    <a:noFill/>
                  </a:tcPr>
                </a:tc>
                <a:tc>
                  <a:txBody>
                    <a:bodyPr/>
                    <a:lstStyle/>
                    <a:p>
                      <a:pPr>
                        <a:buNone/>
                      </a:pPr>
                      <a:r>
                        <a:rPr lang="en-US"/>
                        <a:t>92</a:t>
                      </a:r>
                    </a:p>
                  </a:txBody>
                  <a:tcPr anchor="ctr">
                    <a:lnL>
                      <a:noFill/>
                    </a:lnL>
                    <a:lnR>
                      <a:noFill/>
                    </a:lnR>
                    <a:lnT>
                      <a:noFill/>
                    </a:lnT>
                    <a:lnB>
                      <a:noFill/>
                    </a:lnB>
                    <a:noFill/>
                  </a:tcPr>
                </a:tc>
                <a:extLst>
                  <a:ext uri="{0D108BD9-81ED-4DB2-BD59-A6C34878D82A}">
                    <a16:rowId xmlns:a16="http://schemas.microsoft.com/office/drawing/2014/main" val="1275196181"/>
                  </a:ext>
                </a:extLst>
              </a:tr>
              <a:tr h="0">
                <a:tc>
                  <a:txBody>
                    <a:bodyPr/>
                    <a:lstStyle/>
                    <a:p>
                      <a:pPr>
                        <a:buNone/>
                      </a:pPr>
                      <a:r>
                        <a:rPr lang="en-US" dirty="0"/>
                        <a:t>Rollout Reward</a:t>
                      </a:r>
                    </a:p>
                  </a:txBody>
                  <a:tcPr anchor="ctr">
                    <a:lnL>
                      <a:noFill/>
                    </a:lnL>
                    <a:lnR>
                      <a:noFill/>
                    </a:lnR>
                    <a:lnT>
                      <a:noFill/>
                    </a:lnT>
                    <a:lnB>
                      <a:noFill/>
                    </a:lnB>
                    <a:noFill/>
                  </a:tcPr>
                </a:tc>
                <a:tc>
                  <a:txBody>
                    <a:bodyPr/>
                    <a:lstStyle/>
                    <a:p>
                      <a:pPr>
                        <a:buNone/>
                      </a:pPr>
                      <a:r>
                        <a:rPr lang="en-US"/>
                        <a:t>76.22</a:t>
                      </a:r>
                    </a:p>
                  </a:txBody>
                  <a:tcPr anchor="ctr">
                    <a:lnL>
                      <a:noFill/>
                    </a:lnL>
                    <a:lnR>
                      <a:noFill/>
                    </a:lnR>
                    <a:lnT>
                      <a:noFill/>
                    </a:lnT>
                    <a:lnB>
                      <a:noFill/>
                    </a:lnB>
                    <a:noFill/>
                  </a:tcPr>
                </a:tc>
                <a:tc>
                  <a:txBody>
                    <a:bodyPr/>
                    <a:lstStyle/>
                    <a:p>
                      <a:pPr>
                        <a:buNone/>
                      </a:pPr>
                      <a:r>
                        <a:rPr lang="en-US" dirty="0"/>
                        <a:t>76.47</a:t>
                      </a:r>
                    </a:p>
                  </a:txBody>
                  <a:tcPr anchor="ctr">
                    <a:lnL>
                      <a:noFill/>
                    </a:lnL>
                    <a:lnR>
                      <a:noFill/>
                    </a:lnR>
                    <a:lnT>
                      <a:noFill/>
                    </a:lnT>
                    <a:lnB>
                      <a:noFill/>
                    </a:lnB>
                    <a:noFill/>
                  </a:tcPr>
                </a:tc>
                <a:extLst>
                  <a:ext uri="{0D108BD9-81ED-4DB2-BD59-A6C34878D82A}">
                    <a16:rowId xmlns:a16="http://schemas.microsoft.com/office/drawing/2014/main" val="3935941782"/>
                  </a:ext>
                </a:extLst>
              </a:tr>
            </a:tbl>
          </a:graphicData>
        </a:graphic>
      </p:graphicFrame>
      <p:sp>
        <p:nvSpPr>
          <p:cNvPr id="13" name="Rectangle 7">
            <a:extLst>
              <a:ext uri="{FF2B5EF4-FFF2-40B4-BE49-F238E27FC236}">
                <a16:creationId xmlns:a16="http://schemas.microsoft.com/office/drawing/2014/main" id="{2E65219D-42DE-28C2-33B6-4384CB7898CE}"/>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436768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E4FE5-3389-5BB6-9FCE-8960311025C0}"/>
              </a:ext>
            </a:extLst>
          </p:cNvPr>
          <p:cNvSpPr txBox="1"/>
          <p:nvPr/>
        </p:nvSpPr>
        <p:spPr>
          <a:xfrm>
            <a:off x="688086" y="357277"/>
            <a:ext cx="6094476" cy="1231106"/>
          </a:xfrm>
          <a:prstGeom prst="rect">
            <a:avLst/>
          </a:prstGeom>
          <a:noFill/>
        </p:spPr>
        <p:txBody>
          <a:bodyPr wrap="square">
            <a:spAutoFit/>
          </a:bodyPr>
          <a:lstStyle/>
          <a:p>
            <a:pPr>
              <a:buNone/>
            </a:pPr>
            <a:r>
              <a:rPr lang="en-US" b="1" dirty="0"/>
              <a:t>Experiment 2 — Horizon Sensitivity (Final Analysis)</a:t>
            </a:r>
          </a:p>
          <a:p>
            <a:pPr>
              <a:buNone/>
            </a:pPr>
            <a:br>
              <a:rPr lang="en-US" sz="1400" dirty="0"/>
            </a:br>
            <a:endParaRPr lang="en-US" sz="1400" dirty="0"/>
          </a:p>
          <a:p>
            <a:pPr>
              <a:buNone/>
            </a:pPr>
            <a:r>
              <a:rPr lang="en-US" sz="1400" b="1" dirty="0"/>
              <a:t>Research Question</a:t>
            </a:r>
          </a:p>
          <a:p>
            <a:pPr>
              <a:buNone/>
            </a:pPr>
            <a:r>
              <a:rPr lang="en-US" sz="1400" dirty="0"/>
              <a:t>Does increasing the horizon make forgetting differences (α gap) more visible?</a:t>
            </a:r>
          </a:p>
        </p:txBody>
      </p:sp>
      <p:graphicFrame>
        <p:nvGraphicFramePr>
          <p:cNvPr id="4" name="Table 3">
            <a:extLst>
              <a:ext uri="{FF2B5EF4-FFF2-40B4-BE49-F238E27FC236}">
                <a16:creationId xmlns:a16="http://schemas.microsoft.com/office/drawing/2014/main" id="{E32C33F2-D955-0C3A-FF93-8C00BEB01129}"/>
              </a:ext>
            </a:extLst>
          </p:cNvPr>
          <p:cNvGraphicFramePr>
            <a:graphicFrameLocks noGrp="1"/>
          </p:cNvGraphicFramePr>
          <p:nvPr>
            <p:extLst>
              <p:ext uri="{D42A27DB-BD31-4B8C-83A1-F6EECF244321}">
                <p14:modId xmlns:p14="http://schemas.microsoft.com/office/powerpoint/2010/main" val="1484896422"/>
              </p:ext>
            </p:extLst>
          </p:nvPr>
        </p:nvGraphicFramePr>
        <p:xfrm>
          <a:off x="755904" y="2785142"/>
          <a:ext cx="4593336" cy="1219200"/>
        </p:xfrm>
        <a:graphic>
          <a:graphicData uri="http://schemas.openxmlformats.org/drawingml/2006/table">
            <a:tbl>
              <a:tblPr/>
              <a:tblGrid>
                <a:gridCol w="2296668">
                  <a:extLst>
                    <a:ext uri="{9D8B030D-6E8A-4147-A177-3AD203B41FA5}">
                      <a16:colId xmlns:a16="http://schemas.microsoft.com/office/drawing/2014/main" val="81977508"/>
                    </a:ext>
                  </a:extLst>
                </a:gridCol>
                <a:gridCol w="2296668">
                  <a:extLst>
                    <a:ext uri="{9D8B030D-6E8A-4147-A177-3AD203B41FA5}">
                      <a16:colId xmlns:a16="http://schemas.microsoft.com/office/drawing/2014/main" val="1890010411"/>
                    </a:ext>
                  </a:extLst>
                </a:gridCol>
              </a:tblGrid>
              <a:tr h="288981">
                <a:tc>
                  <a:txBody>
                    <a:bodyPr/>
                    <a:lstStyle/>
                    <a:p>
                      <a:pPr>
                        <a:buNone/>
                      </a:pPr>
                      <a:r>
                        <a:rPr lang="en-US" sz="1400" dirty="0"/>
                        <a:t>Horizon</a:t>
                      </a:r>
                    </a:p>
                  </a:txBody>
                  <a:tcPr anchor="ctr">
                    <a:lnL>
                      <a:noFill/>
                    </a:lnL>
                    <a:lnR>
                      <a:noFill/>
                    </a:lnR>
                    <a:lnT>
                      <a:noFill/>
                    </a:lnT>
                    <a:lnB>
                      <a:noFill/>
                    </a:lnB>
                    <a:noFill/>
                  </a:tcPr>
                </a:tc>
                <a:tc>
                  <a:txBody>
                    <a:bodyPr/>
                    <a:lstStyle/>
                    <a:p>
                      <a:pPr>
                        <a:buNone/>
                      </a:pPr>
                      <a:r>
                        <a:rPr lang="en-US" sz="1400"/>
                        <a:t>Smoothed Mastery</a:t>
                      </a:r>
                    </a:p>
                  </a:txBody>
                  <a:tcPr anchor="ctr">
                    <a:lnL>
                      <a:noFill/>
                    </a:lnL>
                    <a:lnR>
                      <a:noFill/>
                    </a:lnR>
                    <a:lnT>
                      <a:noFill/>
                    </a:lnT>
                    <a:lnB>
                      <a:noFill/>
                    </a:lnB>
                    <a:noFill/>
                  </a:tcPr>
                </a:tc>
                <a:extLst>
                  <a:ext uri="{0D108BD9-81ED-4DB2-BD59-A6C34878D82A}">
                    <a16:rowId xmlns:a16="http://schemas.microsoft.com/office/drawing/2014/main" val="3094615564"/>
                  </a:ext>
                </a:extLst>
              </a:tr>
              <a:tr h="288981">
                <a:tc>
                  <a:txBody>
                    <a:bodyPr/>
                    <a:lstStyle/>
                    <a:p>
                      <a:pPr>
                        <a:buNone/>
                      </a:pPr>
                      <a:r>
                        <a:rPr lang="en-US" sz="1400" dirty="0"/>
                        <a:t>800</a:t>
                      </a:r>
                    </a:p>
                  </a:txBody>
                  <a:tcPr anchor="ctr">
                    <a:lnL>
                      <a:noFill/>
                    </a:lnL>
                    <a:lnR>
                      <a:noFill/>
                    </a:lnR>
                    <a:lnT>
                      <a:noFill/>
                    </a:lnT>
                    <a:lnB>
                      <a:noFill/>
                    </a:lnB>
                    <a:noFill/>
                  </a:tcPr>
                </a:tc>
                <a:tc>
                  <a:txBody>
                    <a:bodyPr/>
                    <a:lstStyle/>
                    <a:p>
                      <a:pPr>
                        <a:buNone/>
                      </a:pPr>
                      <a:r>
                        <a:rPr lang="en-US" sz="1400"/>
                        <a:t>~26</a:t>
                      </a:r>
                    </a:p>
                  </a:txBody>
                  <a:tcPr anchor="ctr">
                    <a:lnL>
                      <a:noFill/>
                    </a:lnL>
                    <a:lnR>
                      <a:noFill/>
                    </a:lnR>
                    <a:lnT>
                      <a:noFill/>
                    </a:lnT>
                    <a:lnB>
                      <a:noFill/>
                    </a:lnB>
                    <a:noFill/>
                  </a:tcPr>
                </a:tc>
                <a:extLst>
                  <a:ext uri="{0D108BD9-81ED-4DB2-BD59-A6C34878D82A}">
                    <a16:rowId xmlns:a16="http://schemas.microsoft.com/office/drawing/2014/main" val="3110731816"/>
                  </a:ext>
                </a:extLst>
              </a:tr>
              <a:tr h="288981">
                <a:tc>
                  <a:txBody>
                    <a:bodyPr/>
                    <a:lstStyle/>
                    <a:p>
                      <a:pPr>
                        <a:buNone/>
                      </a:pPr>
                      <a:r>
                        <a:rPr lang="en-US" sz="1400" dirty="0"/>
                        <a:t>1500</a:t>
                      </a:r>
                    </a:p>
                  </a:txBody>
                  <a:tcPr anchor="ctr">
                    <a:lnL>
                      <a:noFill/>
                    </a:lnL>
                    <a:lnR>
                      <a:noFill/>
                    </a:lnR>
                    <a:lnT>
                      <a:noFill/>
                    </a:lnT>
                    <a:lnB>
                      <a:noFill/>
                    </a:lnB>
                    <a:noFill/>
                  </a:tcPr>
                </a:tc>
                <a:tc>
                  <a:txBody>
                    <a:bodyPr/>
                    <a:lstStyle/>
                    <a:p>
                      <a:pPr>
                        <a:buNone/>
                      </a:pPr>
                      <a:r>
                        <a:rPr lang="en-US" sz="1400"/>
                        <a:t>~33</a:t>
                      </a:r>
                    </a:p>
                  </a:txBody>
                  <a:tcPr anchor="ctr">
                    <a:lnL>
                      <a:noFill/>
                    </a:lnL>
                    <a:lnR>
                      <a:noFill/>
                    </a:lnR>
                    <a:lnT>
                      <a:noFill/>
                    </a:lnT>
                    <a:lnB>
                      <a:noFill/>
                    </a:lnB>
                    <a:noFill/>
                  </a:tcPr>
                </a:tc>
                <a:extLst>
                  <a:ext uri="{0D108BD9-81ED-4DB2-BD59-A6C34878D82A}">
                    <a16:rowId xmlns:a16="http://schemas.microsoft.com/office/drawing/2014/main" val="607463062"/>
                  </a:ext>
                </a:extLst>
              </a:tr>
              <a:tr h="288981">
                <a:tc>
                  <a:txBody>
                    <a:bodyPr/>
                    <a:lstStyle/>
                    <a:p>
                      <a:pPr>
                        <a:buNone/>
                      </a:pPr>
                      <a:r>
                        <a:rPr lang="en-US" sz="1400"/>
                        <a:t>2500</a:t>
                      </a:r>
                    </a:p>
                  </a:txBody>
                  <a:tcPr anchor="ctr">
                    <a:lnL>
                      <a:noFill/>
                    </a:lnL>
                    <a:lnR>
                      <a:noFill/>
                    </a:lnR>
                    <a:lnT>
                      <a:noFill/>
                    </a:lnT>
                    <a:lnB>
                      <a:noFill/>
                    </a:lnB>
                    <a:noFill/>
                  </a:tcPr>
                </a:tc>
                <a:tc>
                  <a:txBody>
                    <a:bodyPr/>
                    <a:lstStyle/>
                    <a:p>
                      <a:pPr>
                        <a:buNone/>
                      </a:pPr>
                      <a:r>
                        <a:rPr lang="en-US" sz="1400" dirty="0"/>
                        <a:t>~117</a:t>
                      </a:r>
                    </a:p>
                  </a:txBody>
                  <a:tcPr anchor="ctr">
                    <a:lnL>
                      <a:noFill/>
                    </a:lnL>
                    <a:lnR>
                      <a:noFill/>
                    </a:lnR>
                    <a:lnT>
                      <a:noFill/>
                    </a:lnT>
                    <a:lnB>
                      <a:noFill/>
                    </a:lnB>
                    <a:noFill/>
                  </a:tcPr>
                </a:tc>
                <a:extLst>
                  <a:ext uri="{0D108BD9-81ED-4DB2-BD59-A6C34878D82A}">
                    <a16:rowId xmlns:a16="http://schemas.microsoft.com/office/drawing/2014/main" val="2368037608"/>
                  </a:ext>
                </a:extLst>
              </a:tr>
            </a:tbl>
          </a:graphicData>
        </a:graphic>
      </p:graphicFrame>
      <p:sp>
        <p:nvSpPr>
          <p:cNvPr id="6" name="TextBox 5">
            <a:extLst>
              <a:ext uri="{FF2B5EF4-FFF2-40B4-BE49-F238E27FC236}">
                <a16:creationId xmlns:a16="http://schemas.microsoft.com/office/drawing/2014/main" id="{37B1D5F1-180C-6B1F-5616-C6F831267790}"/>
              </a:ext>
            </a:extLst>
          </p:cNvPr>
          <p:cNvSpPr txBox="1"/>
          <p:nvPr/>
        </p:nvSpPr>
        <p:spPr>
          <a:xfrm>
            <a:off x="755904" y="2321356"/>
            <a:ext cx="6094476" cy="369332"/>
          </a:xfrm>
          <a:prstGeom prst="rect">
            <a:avLst/>
          </a:prstGeom>
          <a:noFill/>
        </p:spPr>
        <p:txBody>
          <a:bodyPr wrap="square">
            <a:spAutoFit/>
          </a:bodyPr>
          <a:lstStyle/>
          <a:p>
            <a:r>
              <a:rPr lang="en-US" dirty="0"/>
              <a:t>Global Mastery (Smoothed)</a:t>
            </a:r>
          </a:p>
        </p:txBody>
      </p:sp>
      <p:sp>
        <p:nvSpPr>
          <p:cNvPr id="8" name="TextBox 7">
            <a:extLst>
              <a:ext uri="{FF2B5EF4-FFF2-40B4-BE49-F238E27FC236}">
                <a16:creationId xmlns:a16="http://schemas.microsoft.com/office/drawing/2014/main" id="{863035DA-E7B8-7BF2-39F2-4C263948842C}"/>
              </a:ext>
            </a:extLst>
          </p:cNvPr>
          <p:cNvSpPr txBox="1"/>
          <p:nvPr/>
        </p:nvSpPr>
        <p:spPr>
          <a:xfrm>
            <a:off x="755904" y="4348002"/>
            <a:ext cx="5136642" cy="2031325"/>
          </a:xfrm>
          <a:prstGeom prst="rect">
            <a:avLst/>
          </a:prstGeom>
          <a:noFill/>
        </p:spPr>
        <p:txBody>
          <a:bodyPr wrap="square">
            <a:spAutoFit/>
          </a:bodyPr>
          <a:lstStyle/>
          <a:p>
            <a:pPr>
              <a:buNone/>
            </a:pPr>
            <a:r>
              <a:rPr lang="en-US" sz="1400" b="1" dirty="0"/>
              <a:t>Group Mastery (Smoothed)</a:t>
            </a:r>
          </a:p>
          <a:p>
            <a:pPr>
              <a:buNone/>
            </a:pPr>
            <a:r>
              <a:rPr lang="en-US" sz="1400" b="1" dirty="0"/>
              <a:t>Group 0</a:t>
            </a:r>
          </a:p>
          <a:p>
            <a:pPr>
              <a:buFont typeface="Arial" panose="020B0604020202020204" pitchFamily="34" charset="0"/>
              <a:buChar char="•"/>
            </a:pPr>
            <a:r>
              <a:rPr lang="en-US" sz="1400" dirty="0"/>
              <a:t>H800 → ~13.9</a:t>
            </a:r>
          </a:p>
          <a:p>
            <a:pPr>
              <a:buFont typeface="Arial" panose="020B0604020202020204" pitchFamily="34" charset="0"/>
              <a:buChar char="•"/>
            </a:pPr>
            <a:r>
              <a:rPr lang="en-US" sz="1400" dirty="0"/>
              <a:t>H1500 → ~33.6</a:t>
            </a:r>
          </a:p>
          <a:p>
            <a:pPr>
              <a:buFont typeface="Arial" panose="020B0604020202020204" pitchFamily="34" charset="0"/>
              <a:buChar char="•"/>
            </a:pPr>
            <a:r>
              <a:rPr lang="en-US" sz="1400" dirty="0"/>
              <a:t>H2500 → ~117.6</a:t>
            </a:r>
          </a:p>
          <a:p>
            <a:pPr>
              <a:buNone/>
            </a:pPr>
            <a:r>
              <a:rPr lang="en-US" sz="1400" b="1" dirty="0"/>
              <a:t>Group 1</a:t>
            </a:r>
          </a:p>
          <a:p>
            <a:pPr>
              <a:buFont typeface="Arial" panose="020B0604020202020204" pitchFamily="34" charset="0"/>
              <a:buChar char="•"/>
            </a:pPr>
            <a:r>
              <a:rPr lang="en-US" sz="1400" dirty="0"/>
              <a:t>H800 → ~12.2</a:t>
            </a:r>
          </a:p>
          <a:p>
            <a:pPr>
              <a:buFont typeface="Arial" panose="020B0604020202020204" pitchFamily="34" charset="0"/>
              <a:buChar char="•"/>
            </a:pPr>
            <a:r>
              <a:rPr lang="en-US" sz="1400" dirty="0"/>
              <a:t>H1500 → ~37.8</a:t>
            </a:r>
          </a:p>
          <a:p>
            <a:pPr>
              <a:buFont typeface="Arial" panose="020B0604020202020204" pitchFamily="34" charset="0"/>
              <a:buChar char="•"/>
            </a:pPr>
            <a:r>
              <a:rPr lang="en-US" sz="1400" dirty="0"/>
              <a:t>H2500 → ~108.8</a:t>
            </a:r>
          </a:p>
        </p:txBody>
      </p:sp>
    </p:spTree>
    <p:extLst>
      <p:ext uri="{BB962C8B-B14F-4D97-AF65-F5344CB8AC3E}">
        <p14:creationId xmlns:p14="http://schemas.microsoft.com/office/powerpoint/2010/main" val="1813478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4EA26D2-0D7C-1AFF-05B2-142F4FA86A8E}"/>
              </a:ext>
            </a:extLst>
          </p:cNvPr>
          <p:cNvGraphicFramePr>
            <a:graphicFrameLocks noGrp="1"/>
          </p:cNvGraphicFramePr>
          <p:nvPr>
            <p:extLst>
              <p:ext uri="{D42A27DB-BD31-4B8C-83A1-F6EECF244321}">
                <p14:modId xmlns:p14="http://schemas.microsoft.com/office/powerpoint/2010/main" val="1890916"/>
              </p:ext>
            </p:extLst>
          </p:nvPr>
        </p:nvGraphicFramePr>
        <p:xfrm>
          <a:off x="426720" y="1130078"/>
          <a:ext cx="10515600" cy="1219200"/>
        </p:xfrm>
        <a:graphic>
          <a:graphicData uri="http://schemas.openxmlformats.org/drawingml/2006/table">
            <a:tbl>
              <a:tblPr/>
              <a:tblGrid>
                <a:gridCol w="3505200">
                  <a:extLst>
                    <a:ext uri="{9D8B030D-6E8A-4147-A177-3AD203B41FA5}">
                      <a16:colId xmlns:a16="http://schemas.microsoft.com/office/drawing/2014/main" val="2195966971"/>
                    </a:ext>
                  </a:extLst>
                </a:gridCol>
                <a:gridCol w="3505200">
                  <a:extLst>
                    <a:ext uri="{9D8B030D-6E8A-4147-A177-3AD203B41FA5}">
                      <a16:colId xmlns:a16="http://schemas.microsoft.com/office/drawing/2014/main" val="1108521989"/>
                    </a:ext>
                  </a:extLst>
                </a:gridCol>
                <a:gridCol w="3505200">
                  <a:extLst>
                    <a:ext uri="{9D8B030D-6E8A-4147-A177-3AD203B41FA5}">
                      <a16:colId xmlns:a16="http://schemas.microsoft.com/office/drawing/2014/main" val="2826506624"/>
                    </a:ext>
                  </a:extLst>
                </a:gridCol>
              </a:tblGrid>
              <a:tr h="0">
                <a:tc>
                  <a:txBody>
                    <a:bodyPr/>
                    <a:lstStyle/>
                    <a:p>
                      <a:pPr>
                        <a:buNone/>
                      </a:pPr>
                      <a:r>
                        <a:rPr lang="en-US" sz="1400"/>
                        <a:t>Horizon</a:t>
                      </a:r>
                    </a:p>
                  </a:txBody>
                  <a:tcPr anchor="ctr">
                    <a:lnL>
                      <a:noFill/>
                    </a:lnL>
                    <a:lnR>
                      <a:noFill/>
                    </a:lnR>
                    <a:lnT>
                      <a:noFill/>
                    </a:lnT>
                    <a:lnB>
                      <a:noFill/>
                    </a:lnB>
                    <a:noFill/>
                  </a:tcPr>
                </a:tc>
                <a:tc>
                  <a:txBody>
                    <a:bodyPr/>
                    <a:lstStyle/>
                    <a:p>
                      <a:pPr>
                        <a:buNone/>
                      </a:pPr>
                      <a:r>
                        <a:rPr lang="en-US" sz="1400"/>
                        <a:t>Mastery</a:t>
                      </a:r>
                    </a:p>
                  </a:txBody>
                  <a:tcPr anchor="ctr">
                    <a:lnL>
                      <a:noFill/>
                    </a:lnL>
                    <a:lnR>
                      <a:noFill/>
                    </a:lnR>
                    <a:lnT>
                      <a:noFill/>
                    </a:lnT>
                    <a:lnB>
                      <a:noFill/>
                    </a:lnB>
                    <a:noFill/>
                  </a:tcPr>
                </a:tc>
                <a:tc>
                  <a:txBody>
                    <a:bodyPr/>
                    <a:lstStyle/>
                    <a:p>
                      <a:pPr>
                        <a:buNone/>
                      </a:pPr>
                      <a:r>
                        <a:rPr lang="en-US" sz="1400"/>
                        <a:t>Behavior</a:t>
                      </a:r>
                    </a:p>
                  </a:txBody>
                  <a:tcPr anchor="ctr">
                    <a:lnL>
                      <a:noFill/>
                    </a:lnL>
                    <a:lnR>
                      <a:noFill/>
                    </a:lnR>
                    <a:lnT>
                      <a:noFill/>
                    </a:lnT>
                    <a:lnB>
                      <a:noFill/>
                    </a:lnB>
                    <a:noFill/>
                  </a:tcPr>
                </a:tc>
                <a:extLst>
                  <a:ext uri="{0D108BD9-81ED-4DB2-BD59-A6C34878D82A}">
                    <a16:rowId xmlns:a16="http://schemas.microsoft.com/office/drawing/2014/main" val="711178305"/>
                  </a:ext>
                </a:extLst>
              </a:tr>
              <a:tr h="0">
                <a:tc>
                  <a:txBody>
                    <a:bodyPr/>
                    <a:lstStyle/>
                    <a:p>
                      <a:pPr>
                        <a:buNone/>
                      </a:pPr>
                      <a:r>
                        <a:rPr lang="en-US" sz="1400" dirty="0"/>
                        <a:t>800</a:t>
                      </a:r>
                    </a:p>
                  </a:txBody>
                  <a:tcPr anchor="ctr">
                    <a:lnL>
                      <a:noFill/>
                    </a:lnL>
                    <a:lnR>
                      <a:noFill/>
                    </a:lnR>
                    <a:lnT>
                      <a:noFill/>
                    </a:lnT>
                    <a:lnB>
                      <a:noFill/>
                    </a:lnB>
                    <a:noFill/>
                  </a:tcPr>
                </a:tc>
                <a:tc>
                  <a:txBody>
                    <a:bodyPr/>
                    <a:lstStyle/>
                    <a:p>
                      <a:pPr>
                        <a:buNone/>
                      </a:pPr>
                      <a:r>
                        <a:rPr lang="en-US" sz="1400"/>
                        <a:t>Low</a:t>
                      </a:r>
                    </a:p>
                  </a:txBody>
                  <a:tcPr anchor="ctr">
                    <a:lnL>
                      <a:noFill/>
                    </a:lnL>
                    <a:lnR>
                      <a:noFill/>
                    </a:lnR>
                    <a:lnT>
                      <a:noFill/>
                    </a:lnT>
                    <a:lnB>
                      <a:noFill/>
                    </a:lnB>
                    <a:noFill/>
                  </a:tcPr>
                </a:tc>
                <a:tc>
                  <a:txBody>
                    <a:bodyPr/>
                    <a:lstStyle/>
                    <a:p>
                      <a:pPr>
                        <a:buNone/>
                      </a:pPr>
                      <a:r>
                        <a:rPr lang="en-US" sz="1400"/>
                        <a:t>Short-sighted</a:t>
                      </a:r>
                    </a:p>
                  </a:txBody>
                  <a:tcPr anchor="ctr">
                    <a:lnL>
                      <a:noFill/>
                    </a:lnL>
                    <a:lnR>
                      <a:noFill/>
                    </a:lnR>
                    <a:lnT>
                      <a:noFill/>
                    </a:lnT>
                    <a:lnB>
                      <a:noFill/>
                    </a:lnB>
                    <a:noFill/>
                  </a:tcPr>
                </a:tc>
                <a:extLst>
                  <a:ext uri="{0D108BD9-81ED-4DB2-BD59-A6C34878D82A}">
                    <a16:rowId xmlns:a16="http://schemas.microsoft.com/office/drawing/2014/main" val="2224032527"/>
                  </a:ext>
                </a:extLst>
              </a:tr>
              <a:tr h="0">
                <a:tc>
                  <a:txBody>
                    <a:bodyPr/>
                    <a:lstStyle/>
                    <a:p>
                      <a:pPr>
                        <a:buNone/>
                      </a:pPr>
                      <a:r>
                        <a:rPr lang="en-US" sz="1400"/>
                        <a:t>1500</a:t>
                      </a:r>
                    </a:p>
                  </a:txBody>
                  <a:tcPr anchor="ctr">
                    <a:lnL>
                      <a:noFill/>
                    </a:lnL>
                    <a:lnR>
                      <a:noFill/>
                    </a:lnR>
                    <a:lnT>
                      <a:noFill/>
                    </a:lnT>
                    <a:lnB>
                      <a:noFill/>
                    </a:lnB>
                    <a:noFill/>
                  </a:tcPr>
                </a:tc>
                <a:tc>
                  <a:txBody>
                    <a:bodyPr/>
                    <a:lstStyle/>
                    <a:p>
                      <a:pPr>
                        <a:buNone/>
                      </a:pPr>
                      <a:r>
                        <a:rPr lang="en-US" sz="1400"/>
                        <a:t>Medium</a:t>
                      </a:r>
                    </a:p>
                  </a:txBody>
                  <a:tcPr anchor="ctr">
                    <a:lnL>
                      <a:noFill/>
                    </a:lnL>
                    <a:lnR>
                      <a:noFill/>
                    </a:lnR>
                    <a:lnT>
                      <a:noFill/>
                    </a:lnT>
                    <a:lnB>
                      <a:noFill/>
                    </a:lnB>
                    <a:noFill/>
                  </a:tcPr>
                </a:tc>
                <a:tc>
                  <a:txBody>
                    <a:bodyPr/>
                    <a:lstStyle/>
                    <a:p>
                      <a:pPr>
                        <a:buNone/>
                      </a:pPr>
                      <a:r>
                        <a:rPr lang="en-US" sz="1400"/>
                        <a:t>Partial long-term</a:t>
                      </a:r>
                    </a:p>
                  </a:txBody>
                  <a:tcPr anchor="ctr">
                    <a:lnL>
                      <a:noFill/>
                    </a:lnL>
                    <a:lnR>
                      <a:noFill/>
                    </a:lnR>
                    <a:lnT>
                      <a:noFill/>
                    </a:lnT>
                    <a:lnB>
                      <a:noFill/>
                    </a:lnB>
                    <a:noFill/>
                  </a:tcPr>
                </a:tc>
                <a:extLst>
                  <a:ext uri="{0D108BD9-81ED-4DB2-BD59-A6C34878D82A}">
                    <a16:rowId xmlns:a16="http://schemas.microsoft.com/office/drawing/2014/main" val="1958110592"/>
                  </a:ext>
                </a:extLst>
              </a:tr>
              <a:tr h="0">
                <a:tc>
                  <a:txBody>
                    <a:bodyPr/>
                    <a:lstStyle/>
                    <a:p>
                      <a:pPr>
                        <a:buNone/>
                      </a:pPr>
                      <a:r>
                        <a:rPr lang="en-US" sz="1400"/>
                        <a:t>2500</a:t>
                      </a:r>
                    </a:p>
                  </a:txBody>
                  <a:tcPr anchor="ctr">
                    <a:lnL>
                      <a:noFill/>
                    </a:lnL>
                    <a:lnR>
                      <a:noFill/>
                    </a:lnR>
                    <a:lnT>
                      <a:noFill/>
                    </a:lnT>
                    <a:lnB>
                      <a:noFill/>
                    </a:lnB>
                    <a:noFill/>
                  </a:tcPr>
                </a:tc>
                <a:tc>
                  <a:txBody>
                    <a:bodyPr/>
                    <a:lstStyle/>
                    <a:p>
                      <a:pPr>
                        <a:buNone/>
                      </a:pPr>
                      <a:r>
                        <a:rPr lang="en-US" sz="1400"/>
                        <a:t>High</a:t>
                      </a:r>
                    </a:p>
                  </a:txBody>
                  <a:tcPr anchor="ctr">
                    <a:lnL>
                      <a:noFill/>
                    </a:lnL>
                    <a:lnR>
                      <a:noFill/>
                    </a:lnR>
                    <a:lnT>
                      <a:noFill/>
                    </a:lnT>
                    <a:lnB>
                      <a:noFill/>
                    </a:lnB>
                    <a:noFill/>
                  </a:tcPr>
                </a:tc>
                <a:tc>
                  <a:txBody>
                    <a:bodyPr/>
                    <a:lstStyle/>
                    <a:p>
                      <a:pPr>
                        <a:buNone/>
                      </a:pPr>
                      <a:r>
                        <a:rPr lang="en-US" sz="1400" dirty="0"/>
                        <a:t>Strong long-term planning</a:t>
                      </a:r>
                    </a:p>
                  </a:txBody>
                  <a:tcPr anchor="ctr">
                    <a:lnL>
                      <a:noFill/>
                    </a:lnL>
                    <a:lnR>
                      <a:noFill/>
                    </a:lnR>
                    <a:lnT>
                      <a:noFill/>
                    </a:lnT>
                    <a:lnB>
                      <a:noFill/>
                    </a:lnB>
                    <a:noFill/>
                  </a:tcPr>
                </a:tc>
                <a:extLst>
                  <a:ext uri="{0D108BD9-81ED-4DB2-BD59-A6C34878D82A}">
                    <a16:rowId xmlns:a16="http://schemas.microsoft.com/office/drawing/2014/main" val="3712092122"/>
                  </a:ext>
                </a:extLst>
              </a:tr>
            </a:tbl>
          </a:graphicData>
        </a:graphic>
      </p:graphicFrame>
      <p:sp>
        <p:nvSpPr>
          <p:cNvPr id="4" name="TextBox 3">
            <a:extLst>
              <a:ext uri="{FF2B5EF4-FFF2-40B4-BE49-F238E27FC236}">
                <a16:creationId xmlns:a16="http://schemas.microsoft.com/office/drawing/2014/main" id="{B12A9BDC-5347-5611-206D-2E22C0450495}"/>
              </a:ext>
            </a:extLst>
          </p:cNvPr>
          <p:cNvSpPr txBox="1"/>
          <p:nvPr/>
        </p:nvSpPr>
        <p:spPr>
          <a:xfrm>
            <a:off x="426720" y="620006"/>
            <a:ext cx="6094476" cy="369332"/>
          </a:xfrm>
          <a:prstGeom prst="rect">
            <a:avLst/>
          </a:prstGeom>
          <a:noFill/>
        </p:spPr>
        <p:txBody>
          <a:bodyPr wrap="square">
            <a:spAutoFit/>
          </a:bodyPr>
          <a:lstStyle/>
          <a:p>
            <a:r>
              <a:rPr lang="en-US" dirty="0"/>
              <a:t>Effect of Planning Horizon</a:t>
            </a:r>
          </a:p>
        </p:txBody>
      </p:sp>
      <p:sp>
        <p:nvSpPr>
          <p:cNvPr id="6" name="TextBox 5">
            <a:extLst>
              <a:ext uri="{FF2B5EF4-FFF2-40B4-BE49-F238E27FC236}">
                <a16:creationId xmlns:a16="http://schemas.microsoft.com/office/drawing/2014/main" id="{3C9AA90C-7A62-A0CB-A0C8-605F7C4290C9}"/>
              </a:ext>
            </a:extLst>
          </p:cNvPr>
          <p:cNvSpPr txBox="1"/>
          <p:nvPr/>
        </p:nvSpPr>
        <p:spPr>
          <a:xfrm>
            <a:off x="426720" y="2490018"/>
            <a:ext cx="6094476" cy="646331"/>
          </a:xfrm>
          <a:prstGeom prst="rect">
            <a:avLst/>
          </a:prstGeom>
          <a:noFill/>
        </p:spPr>
        <p:txBody>
          <a:bodyPr wrap="square">
            <a:spAutoFit/>
          </a:bodyPr>
          <a:lstStyle/>
          <a:p>
            <a:pPr>
              <a:buNone/>
            </a:pPr>
            <a:r>
              <a:rPr lang="en-US" b="1" dirty="0"/>
              <a:t>Observation:</a:t>
            </a:r>
          </a:p>
          <a:p>
            <a:pPr>
              <a:buNone/>
            </a:pPr>
            <a:r>
              <a:rPr lang="en-US" sz="1400" dirty="0"/>
              <a:t>Longer horizon dramatically improves learning performance</a:t>
            </a:r>
            <a:r>
              <a:rPr lang="en-US" dirty="0"/>
              <a:t>.</a:t>
            </a:r>
          </a:p>
        </p:txBody>
      </p:sp>
      <p:sp>
        <p:nvSpPr>
          <p:cNvPr id="8" name="TextBox 7">
            <a:extLst>
              <a:ext uri="{FF2B5EF4-FFF2-40B4-BE49-F238E27FC236}">
                <a16:creationId xmlns:a16="http://schemas.microsoft.com/office/drawing/2014/main" id="{AB0D7C33-1107-1CAA-C9B8-8D89DAC79B63}"/>
              </a:ext>
            </a:extLst>
          </p:cNvPr>
          <p:cNvSpPr txBox="1"/>
          <p:nvPr/>
        </p:nvSpPr>
        <p:spPr>
          <a:xfrm>
            <a:off x="752094" y="3524510"/>
            <a:ext cx="6094476" cy="2092881"/>
          </a:xfrm>
          <a:prstGeom prst="rect">
            <a:avLst/>
          </a:prstGeom>
          <a:noFill/>
        </p:spPr>
        <p:txBody>
          <a:bodyPr wrap="square">
            <a:spAutoFit/>
          </a:bodyPr>
          <a:lstStyle/>
          <a:p>
            <a:pPr lvl="0" eaLnBrk="0" fontAlgn="base" hangingPunct="0">
              <a:spcBef>
                <a:spcPct val="0"/>
              </a:spcBef>
              <a:spcAft>
                <a:spcPct val="0"/>
              </a:spcAft>
            </a:pPr>
            <a:r>
              <a:rPr lang="en-US" b="1" dirty="0"/>
              <a:t>Inferences :</a:t>
            </a:r>
            <a:br>
              <a:rPr lang="en-US" sz="1400" dirty="0"/>
            </a:br>
            <a:br>
              <a:rPr lang="en-US" sz="1400" dirty="0"/>
            </a:br>
            <a:r>
              <a:rPr lang="en-US" altLang="en-US" sz="1400" dirty="0"/>
              <a:t>If the model only plans a little into the future, it cannot see forgetting properly.</a:t>
            </a:r>
          </a:p>
          <a:p>
            <a:pPr lvl="0" eaLnBrk="0" fontAlgn="base" hangingPunct="0">
              <a:spcBef>
                <a:spcPct val="0"/>
              </a:spcBef>
              <a:spcAft>
                <a:spcPct val="0"/>
              </a:spcAft>
              <a:buFontTx/>
              <a:buChar char="•"/>
            </a:pPr>
            <a:r>
              <a:rPr lang="en-US" altLang="en-US" sz="1400" dirty="0"/>
              <a:t>Short planning makes the model focus only on immediate reward.</a:t>
            </a:r>
          </a:p>
          <a:p>
            <a:pPr lvl="0" eaLnBrk="0" fontAlgn="base" hangingPunct="0">
              <a:spcBef>
                <a:spcPct val="0"/>
              </a:spcBef>
              <a:spcAft>
                <a:spcPct val="0"/>
              </a:spcAft>
              <a:buFontTx/>
              <a:buChar char="•"/>
            </a:pPr>
            <a:r>
              <a:rPr lang="en-US" altLang="en-US" sz="1400" dirty="0"/>
              <a:t>When we increase the horizon, the model starts to notice long-term effects.</a:t>
            </a:r>
          </a:p>
          <a:p>
            <a:pPr lvl="0" eaLnBrk="0" fontAlgn="base" hangingPunct="0">
              <a:spcBef>
                <a:spcPct val="0"/>
              </a:spcBef>
              <a:spcAft>
                <a:spcPct val="0"/>
              </a:spcAft>
              <a:buFontTx/>
              <a:buChar char="•"/>
            </a:pPr>
            <a:r>
              <a:rPr lang="en-US" altLang="en-US" sz="1400" dirty="0"/>
              <a:t>Fast-forgetting learners need more attention, and the model finally understands that.</a:t>
            </a:r>
          </a:p>
          <a:p>
            <a:pPr lvl="0" eaLnBrk="0" fontAlgn="base" hangingPunct="0">
              <a:spcBef>
                <a:spcPct val="0"/>
              </a:spcBef>
              <a:spcAft>
                <a:spcPct val="0"/>
              </a:spcAft>
              <a:buFontTx/>
              <a:buChar char="•"/>
            </a:pPr>
            <a:r>
              <a:rPr lang="en-US" altLang="en-US" sz="1400" dirty="0"/>
              <a:t>With a long horizon, the model learns much better scheduling strategies.</a:t>
            </a:r>
          </a:p>
          <a:p>
            <a:endParaRPr lang="en-US" sz="1400" dirty="0"/>
          </a:p>
        </p:txBody>
      </p:sp>
    </p:spTree>
    <p:extLst>
      <p:ext uri="{BB962C8B-B14F-4D97-AF65-F5344CB8AC3E}">
        <p14:creationId xmlns:p14="http://schemas.microsoft.com/office/powerpoint/2010/main" val="3934974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FFA9D0-8BF2-AD33-9FBD-B86A03176E5A}"/>
              </a:ext>
            </a:extLst>
          </p:cNvPr>
          <p:cNvSpPr txBox="1"/>
          <p:nvPr/>
        </p:nvSpPr>
        <p:spPr>
          <a:xfrm>
            <a:off x="441198" y="958334"/>
            <a:ext cx="6094476" cy="646331"/>
          </a:xfrm>
          <a:prstGeom prst="rect">
            <a:avLst/>
          </a:prstGeom>
          <a:noFill/>
        </p:spPr>
        <p:txBody>
          <a:bodyPr wrap="square">
            <a:spAutoFit/>
          </a:bodyPr>
          <a:lstStyle/>
          <a:p>
            <a:r>
              <a:rPr lang="en-US" b="1" dirty="0"/>
              <a:t>Research Question</a:t>
            </a:r>
          </a:p>
          <a:p>
            <a:r>
              <a:rPr lang="en-US" dirty="0"/>
              <a:t>What happens when learners have more items to learn?</a:t>
            </a:r>
          </a:p>
        </p:txBody>
      </p:sp>
      <p:sp>
        <p:nvSpPr>
          <p:cNvPr id="5" name="TextBox 4">
            <a:extLst>
              <a:ext uri="{FF2B5EF4-FFF2-40B4-BE49-F238E27FC236}">
                <a16:creationId xmlns:a16="http://schemas.microsoft.com/office/drawing/2014/main" id="{24897E53-DE31-B7F2-B429-E3EE96892A0E}"/>
              </a:ext>
            </a:extLst>
          </p:cNvPr>
          <p:cNvSpPr txBox="1"/>
          <p:nvPr/>
        </p:nvSpPr>
        <p:spPr>
          <a:xfrm>
            <a:off x="441198" y="464558"/>
            <a:ext cx="6094476" cy="369332"/>
          </a:xfrm>
          <a:prstGeom prst="rect">
            <a:avLst/>
          </a:prstGeom>
          <a:noFill/>
        </p:spPr>
        <p:txBody>
          <a:bodyPr wrap="square">
            <a:spAutoFit/>
          </a:bodyPr>
          <a:lstStyle/>
          <a:p>
            <a:r>
              <a:rPr lang="en-US" b="1" dirty="0"/>
              <a:t>Experiment 3 — Cognitive Load</a:t>
            </a:r>
          </a:p>
        </p:txBody>
      </p:sp>
      <p:graphicFrame>
        <p:nvGraphicFramePr>
          <p:cNvPr id="7" name="Table 6">
            <a:extLst>
              <a:ext uri="{FF2B5EF4-FFF2-40B4-BE49-F238E27FC236}">
                <a16:creationId xmlns:a16="http://schemas.microsoft.com/office/drawing/2014/main" id="{F43FDEBE-F2F4-CDF7-CD73-CCC57423271A}"/>
              </a:ext>
            </a:extLst>
          </p:cNvPr>
          <p:cNvGraphicFramePr>
            <a:graphicFrameLocks noGrp="1"/>
          </p:cNvGraphicFramePr>
          <p:nvPr>
            <p:extLst>
              <p:ext uri="{D42A27DB-BD31-4B8C-83A1-F6EECF244321}">
                <p14:modId xmlns:p14="http://schemas.microsoft.com/office/powerpoint/2010/main" val="3128020058"/>
              </p:ext>
            </p:extLst>
          </p:nvPr>
        </p:nvGraphicFramePr>
        <p:xfrm>
          <a:off x="637032" y="2163350"/>
          <a:ext cx="10515600" cy="1219200"/>
        </p:xfrm>
        <a:graphic>
          <a:graphicData uri="http://schemas.openxmlformats.org/drawingml/2006/table">
            <a:tbl>
              <a:tblPr/>
              <a:tblGrid>
                <a:gridCol w="5257800">
                  <a:extLst>
                    <a:ext uri="{9D8B030D-6E8A-4147-A177-3AD203B41FA5}">
                      <a16:colId xmlns:a16="http://schemas.microsoft.com/office/drawing/2014/main" val="2515134310"/>
                    </a:ext>
                  </a:extLst>
                </a:gridCol>
                <a:gridCol w="5257800">
                  <a:extLst>
                    <a:ext uri="{9D8B030D-6E8A-4147-A177-3AD203B41FA5}">
                      <a16:colId xmlns:a16="http://schemas.microsoft.com/office/drawing/2014/main" val="3092716095"/>
                    </a:ext>
                  </a:extLst>
                </a:gridCol>
              </a:tblGrid>
              <a:tr h="0">
                <a:tc>
                  <a:txBody>
                    <a:bodyPr/>
                    <a:lstStyle/>
                    <a:p>
                      <a:pPr>
                        <a:buNone/>
                      </a:pPr>
                      <a:r>
                        <a:rPr lang="en-US" sz="1400"/>
                        <a:t>Items</a:t>
                      </a:r>
                    </a:p>
                  </a:txBody>
                  <a:tcPr anchor="ctr">
                    <a:lnL>
                      <a:noFill/>
                    </a:lnL>
                    <a:lnR>
                      <a:noFill/>
                    </a:lnR>
                    <a:lnT>
                      <a:noFill/>
                    </a:lnT>
                    <a:lnB>
                      <a:noFill/>
                    </a:lnB>
                    <a:noFill/>
                  </a:tcPr>
                </a:tc>
                <a:tc>
                  <a:txBody>
                    <a:bodyPr/>
                    <a:lstStyle/>
                    <a:p>
                      <a:pPr>
                        <a:buNone/>
                      </a:pPr>
                      <a:r>
                        <a:rPr lang="en-US" sz="1400"/>
                        <a:t>Mastered</a:t>
                      </a:r>
                    </a:p>
                  </a:txBody>
                  <a:tcPr anchor="ctr">
                    <a:lnL>
                      <a:noFill/>
                    </a:lnL>
                    <a:lnR>
                      <a:noFill/>
                    </a:lnR>
                    <a:lnT>
                      <a:noFill/>
                    </a:lnT>
                    <a:lnB>
                      <a:noFill/>
                    </a:lnB>
                    <a:noFill/>
                  </a:tcPr>
                </a:tc>
                <a:extLst>
                  <a:ext uri="{0D108BD9-81ED-4DB2-BD59-A6C34878D82A}">
                    <a16:rowId xmlns:a16="http://schemas.microsoft.com/office/drawing/2014/main" val="681726766"/>
                  </a:ext>
                </a:extLst>
              </a:tr>
              <a:tr h="0">
                <a:tc>
                  <a:txBody>
                    <a:bodyPr/>
                    <a:lstStyle/>
                    <a:p>
                      <a:pPr>
                        <a:buNone/>
                      </a:pPr>
                      <a:r>
                        <a:rPr lang="en-US" sz="1400" dirty="0"/>
                        <a:t>100</a:t>
                      </a:r>
                    </a:p>
                  </a:txBody>
                  <a:tcPr anchor="ctr">
                    <a:lnL>
                      <a:noFill/>
                    </a:lnL>
                    <a:lnR>
                      <a:noFill/>
                    </a:lnR>
                    <a:lnT>
                      <a:noFill/>
                    </a:lnT>
                    <a:lnB>
                      <a:noFill/>
                    </a:lnB>
                    <a:noFill/>
                  </a:tcPr>
                </a:tc>
                <a:tc>
                  <a:txBody>
                    <a:bodyPr/>
                    <a:lstStyle/>
                    <a:p>
                      <a:pPr>
                        <a:buNone/>
                      </a:pPr>
                      <a:r>
                        <a:rPr lang="en-US" sz="1400"/>
                        <a:t>~52</a:t>
                      </a:r>
                    </a:p>
                  </a:txBody>
                  <a:tcPr anchor="ctr">
                    <a:lnL>
                      <a:noFill/>
                    </a:lnL>
                    <a:lnR>
                      <a:noFill/>
                    </a:lnR>
                    <a:lnT>
                      <a:noFill/>
                    </a:lnT>
                    <a:lnB>
                      <a:noFill/>
                    </a:lnB>
                    <a:noFill/>
                  </a:tcPr>
                </a:tc>
                <a:extLst>
                  <a:ext uri="{0D108BD9-81ED-4DB2-BD59-A6C34878D82A}">
                    <a16:rowId xmlns:a16="http://schemas.microsoft.com/office/drawing/2014/main" val="1620890219"/>
                  </a:ext>
                </a:extLst>
              </a:tr>
              <a:tr h="0">
                <a:tc>
                  <a:txBody>
                    <a:bodyPr/>
                    <a:lstStyle/>
                    <a:p>
                      <a:pPr>
                        <a:buNone/>
                      </a:pPr>
                      <a:r>
                        <a:rPr lang="en-US" sz="1400"/>
                        <a:t>200</a:t>
                      </a:r>
                    </a:p>
                  </a:txBody>
                  <a:tcPr anchor="ctr">
                    <a:lnL>
                      <a:noFill/>
                    </a:lnL>
                    <a:lnR>
                      <a:noFill/>
                    </a:lnR>
                    <a:lnT>
                      <a:noFill/>
                    </a:lnT>
                    <a:lnB>
                      <a:noFill/>
                    </a:lnB>
                    <a:noFill/>
                  </a:tcPr>
                </a:tc>
                <a:tc>
                  <a:txBody>
                    <a:bodyPr/>
                    <a:lstStyle/>
                    <a:p>
                      <a:pPr>
                        <a:buNone/>
                      </a:pPr>
                      <a:r>
                        <a:rPr lang="en-US" sz="1400"/>
                        <a:t>~33</a:t>
                      </a:r>
                    </a:p>
                  </a:txBody>
                  <a:tcPr anchor="ctr">
                    <a:lnL>
                      <a:noFill/>
                    </a:lnL>
                    <a:lnR>
                      <a:noFill/>
                    </a:lnR>
                    <a:lnT>
                      <a:noFill/>
                    </a:lnT>
                    <a:lnB>
                      <a:noFill/>
                    </a:lnB>
                    <a:noFill/>
                  </a:tcPr>
                </a:tc>
                <a:extLst>
                  <a:ext uri="{0D108BD9-81ED-4DB2-BD59-A6C34878D82A}">
                    <a16:rowId xmlns:a16="http://schemas.microsoft.com/office/drawing/2014/main" val="1482910397"/>
                  </a:ext>
                </a:extLst>
              </a:tr>
              <a:tr h="0">
                <a:tc>
                  <a:txBody>
                    <a:bodyPr/>
                    <a:lstStyle/>
                    <a:p>
                      <a:pPr>
                        <a:buNone/>
                      </a:pPr>
                      <a:r>
                        <a:rPr lang="en-US" sz="1400"/>
                        <a:t>500</a:t>
                      </a:r>
                    </a:p>
                  </a:txBody>
                  <a:tcPr anchor="ctr">
                    <a:lnL>
                      <a:noFill/>
                    </a:lnL>
                    <a:lnR>
                      <a:noFill/>
                    </a:lnR>
                    <a:lnT>
                      <a:noFill/>
                    </a:lnT>
                    <a:lnB>
                      <a:noFill/>
                    </a:lnB>
                    <a:noFill/>
                  </a:tcPr>
                </a:tc>
                <a:tc>
                  <a:txBody>
                    <a:bodyPr/>
                    <a:lstStyle/>
                    <a:p>
                      <a:pPr>
                        <a:buNone/>
                      </a:pPr>
                      <a:r>
                        <a:rPr lang="en-US" sz="1400" dirty="0"/>
                        <a:t>~27</a:t>
                      </a:r>
                    </a:p>
                  </a:txBody>
                  <a:tcPr anchor="ctr">
                    <a:lnL>
                      <a:noFill/>
                    </a:lnL>
                    <a:lnR>
                      <a:noFill/>
                    </a:lnR>
                    <a:lnT>
                      <a:noFill/>
                    </a:lnT>
                    <a:lnB>
                      <a:noFill/>
                    </a:lnB>
                    <a:noFill/>
                  </a:tcPr>
                </a:tc>
                <a:extLst>
                  <a:ext uri="{0D108BD9-81ED-4DB2-BD59-A6C34878D82A}">
                    <a16:rowId xmlns:a16="http://schemas.microsoft.com/office/drawing/2014/main" val="2986192327"/>
                  </a:ext>
                </a:extLst>
              </a:tr>
            </a:tbl>
          </a:graphicData>
        </a:graphic>
      </p:graphicFrame>
      <p:sp>
        <p:nvSpPr>
          <p:cNvPr id="9" name="TextBox 8">
            <a:extLst>
              <a:ext uri="{FF2B5EF4-FFF2-40B4-BE49-F238E27FC236}">
                <a16:creationId xmlns:a16="http://schemas.microsoft.com/office/drawing/2014/main" id="{9A5624F8-9304-424D-851B-BCDCA1392774}"/>
              </a:ext>
            </a:extLst>
          </p:cNvPr>
          <p:cNvSpPr txBox="1"/>
          <p:nvPr/>
        </p:nvSpPr>
        <p:spPr>
          <a:xfrm>
            <a:off x="441198" y="1794018"/>
            <a:ext cx="6094476" cy="307777"/>
          </a:xfrm>
          <a:prstGeom prst="rect">
            <a:avLst/>
          </a:prstGeom>
          <a:noFill/>
        </p:spPr>
        <p:txBody>
          <a:bodyPr wrap="square">
            <a:spAutoFit/>
          </a:bodyPr>
          <a:lstStyle/>
          <a:p>
            <a:r>
              <a:rPr lang="en-US" sz="1400" dirty="0"/>
              <a:t>Group 0 — Smoothed Mastery</a:t>
            </a:r>
          </a:p>
        </p:txBody>
      </p:sp>
      <p:sp>
        <p:nvSpPr>
          <p:cNvPr id="11" name="TextBox 10">
            <a:extLst>
              <a:ext uri="{FF2B5EF4-FFF2-40B4-BE49-F238E27FC236}">
                <a16:creationId xmlns:a16="http://schemas.microsoft.com/office/drawing/2014/main" id="{1D0D71C5-BC8E-19A7-4D13-5F9FD66615C8}"/>
              </a:ext>
            </a:extLst>
          </p:cNvPr>
          <p:cNvSpPr txBox="1"/>
          <p:nvPr/>
        </p:nvSpPr>
        <p:spPr>
          <a:xfrm>
            <a:off x="441198" y="4404233"/>
            <a:ext cx="6094476" cy="307777"/>
          </a:xfrm>
          <a:prstGeom prst="rect">
            <a:avLst/>
          </a:prstGeom>
          <a:noFill/>
        </p:spPr>
        <p:txBody>
          <a:bodyPr wrap="square">
            <a:spAutoFit/>
          </a:bodyPr>
          <a:lstStyle/>
          <a:p>
            <a:r>
              <a:rPr lang="en-US" sz="1400" dirty="0"/>
              <a:t>Group 1 — Smoothed Mastery</a:t>
            </a:r>
          </a:p>
        </p:txBody>
      </p:sp>
      <p:graphicFrame>
        <p:nvGraphicFramePr>
          <p:cNvPr id="12" name="Table 11">
            <a:extLst>
              <a:ext uri="{FF2B5EF4-FFF2-40B4-BE49-F238E27FC236}">
                <a16:creationId xmlns:a16="http://schemas.microsoft.com/office/drawing/2014/main" id="{51985E31-A8F6-97F4-DBAC-E61B1C0DAF01}"/>
              </a:ext>
            </a:extLst>
          </p:cNvPr>
          <p:cNvGraphicFramePr>
            <a:graphicFrameLocks noGrp="1"/>
          </p:cNvGraphicFramePr>
          <p:nvPr>
            <p:extLst>
              <p:ext uri="{D42A27DB-BD31-4B8C-83A1-F6EECF244321}">
                <p14:modId xmlns:p14="http://schemas.microsoft.com/office/powerpoint/2010/main" val="3456725429"/>
              </p:ext>
            </p:extLst>
          </p:nvPr>
        </p:nvGraphicFramePr>
        <p:xfrm>
          <a:off x="573024" y="4743760"/>
          <a:ext cx="10579608" cy="1219200"/>
        </p:xfrm>
        <a:graphic>
          <a:graphicData uri="http://schemas.openxmlformats.org/drawingml/2006/table">
            <a:tbl>
              <a:tblPr/>
              <a:tblGrid>
                <a:gridCol w="5289804">
                  <a:extLst>
                    <a:ext uri="{9D8B030D-6E8A-4147-A177-3AD203B41FA5}">
                      <a16:colId xmlns:a16="http://schemas.microsoft.com/office/drawing/2014/main" val="2923054916"/>
                    </a:ext>
                  </a:extLst>
                </a:gridCol>
                <a:gridCol w="5289804">
                  <a:extLst>
                    <a:ext uri="{9D8B030D-6E8A-4147-A177-3AD203B41FA5}">
                      <a16:colId xmlns:a16="http://schemas.microsoft.com/office/drawing/2014/main" val="1822249814"/>
                    </a:ext>
                  </a:extLst>
                </a:gridCol>
              </a:tblGrid>
              <a:tr h="0">
                <a:tc>
                  <a:txBody>
                    <a:bodyPr/>
                    <a:lstStyle/>
                    <a:p>
                      <a:pPr>
                        <a:buNone/>
                      </a:pPr>
                      <a:r>
                        <a:rPr lang="en-US" sz="1400" dirty="0"/>
                        <a:t>Items</a:t>
                      </a:r>
                    </a:p>
                  </a:txBody>
                  <a:tcPr anchor="ctr">
                    <a:lnL>
                      <a:noFill/>
                    </a:lnL>
                    <a:lnR>
                      <a:noFill/>
                    </a:lnR>
                    <a:lnT>
                      <a:noFill/>
                    </a:lnT>
                    <a:lnB>
                      <a:noFill/>
                    </a:lnB>
                    <a:noFill/>
                  </a:tcPr>
                </a:tc>
                <a:tc>
                  <a:txBody>
                    <a:bodyPr/>
                    <a:lstStyle/>
                    <a:p>
                      <a:pPr>
                        <a:buNone/>
                      </a:pPr>
                      <a:r>
                        <a:rPr lang="en-US" sz="1400"/>
                        <a:t>Mastered</a:t>
                      </a:r>
                    </a:p>
                  </a:txBody>
                  <a:tcPr anchor="ctr">
                    <a:lnL>
                      <a:noFill/>
                    </a:lnL>
                    <a:lnR>
                      <a:noFill/>
                    </a:lnR>
                    <a:lnT>
                      <a:noFill/>
                    </a:lnT>
                    <a:lnB>
                      <a:noFill/>
                    </a:lnB>
                    <a:noFill/>
                  </a:tcPr>
                </a:tc>
                <a:extLst>
                  <a:ext uri="{0D108BD9-81ED-4DB2-BD59-A6C34878D82A}">
                    <a16:rowId xmlns:a16="http://schemas.microsoft.com/office/drawing/2014/main" val="2810291603"/>
                  </a:ext>
                </a:extLst>
              </a:tr>
              <a:tr h="0">
                <a:tc>
                  <a:txBody>
                    <a:bodyPr/>
                    <a:lstStyle/>
                    <a:p>
                      <a:pPr>
                        <a:buNone/>
                      </a:pPr>
                      <a:r>
                        <a:rPr lang="en-US" sz="1400"/>
                        <a:t>100</a:t>
                      </a:r>
                    </a:p>
                  </a:txBody>
                  <a:tcPr anchor="ctr">
                    <a:lnL>
                      <a:noFill/>
                    </a:lnL>
                    <a:lnR>
                      <a:noFill/>
                    </a:lnR>
                    <a:lnT>
                      <a:noFill/>
                    </a:lnT>
                    <a:lnB>
                      <a:noFill/>
                    </a:lnB>
                    <a:noFill/>
                  </a:tcPr>
                </a:tc>
                <a:tc>
                  <a:txBody>
                    <a:bodyPr/>
                    <a:lstStyle/>
                    <a:p>
                      <a:pPr>
                        <a:buNone/>
                      </a:pPr>
                      <a:r>
                        <a:rPr lang="en-US" sz="1400" dirty="0"/>
                        <a:t>~50</a:t>
                      </a:r>
                    </a:p>
                  </a:txBody>
                  <a:tcPr anchor="ctr">
                    <a:lnL>
                      <a:noFill/>
                    </a:lnL>
                    <a:lnR>
                      <a:noFill/>
                    </a:lnR>
                    <a:lnT>
                      <a:noFill/>
                    </a:lnT>
                    <a:lnB>
                      <a:noFill/>
                    </a:lnB>
                    <a:noFill/>
                  </a:tcPr>
                </a:tc>
                <a:extLst>
                  <a:ext uri="{0D108BD9-81ED-4DB2-BD59-A6C34878D82A}">
                    <a16:rowId xmlns:a16="http://schemas.microsoft.com/office/drawing/2014/main" val="664991383"/>
                  </a:ext>
                </a:extLst>
              </a:tr>
              <a:tr h="0">
                <a:tc>
                  <a:txBody>
                    <a:bodyPr/>
                    <a:lstStyle/>
                    <a:p>
                      <a:pPr>
                        <a:buNone/>
                      </a:pPr>
                      <a:r>
                        <a:rPr lang="en-US" sz="1400"/>
                        <a:t>200</a:t>
                      </a:r>
                    </a:p>
                  </a:txBody>
                  <a:tcPr anchor="ctr">
                    <a:lnL>
                      <a:noFill/>
                    </a:lnL>
                    <a:lnR>
                      <a:noFill/>
                    </a:lnR>
                    <a:lnT>
                      <a:noFill/>
                    </a:lnT>
                    <a:lnB>
                      <a:noFill/>
                    </a:lnB>
                    <a:noFill/>
                  </a:tcPr>
                </a:tc>
                <a:tc>
                  <a:txBody>
                    <a:bodyPr/>
                    <a:lstStyle/>
                    <a:p>
                      <a:pPr>
                        <a:buNone/>
                      </a:pPr>
                      <a:r>
                        <a:rPr lang="en-US" sz="1400" dirty="0"/>
                        <a:t>~37</a:t>
                      </a:r>
                    </a:p>
                  </a:txBody>
                  <a:tcPr anchor="ctr">
                    <a:lnL>
                      <a:noFill/>
                    </a:lnL>
                    <a:lnR>
                      <a:noFill/>
                    </a:lnR>
                    <a:lnT>
                      <a:noFill/>
                    </a:lnT>
                    <a:lnB>
                      <a:noFill/>
                    </a:lnB>
                    <a:noFill/>
                  </a:tcPr>
                </a:tc>
                <a:extLst>
                  <a:ext uri="{0D108BD9-81ED-4DB2-BD59-A6C34878D82A}">
                    <a16:rowId xmlns:a16="http://schemas.microsoft.com/office/drawing/2014/main" val="2015093107"/>
                  </a:ext>
                </a:extLst>
              </a:tr>
              <a:tr h="0">
                <a:tc>
                  <a:txBody>
                    <a:bodyPr/>
                    <a:lstStyle/>
                    <a:p>
                      <a:pPr>
                        <a:buNone/>
                      </a:pPr>
                      <a:r>
                        <a:rPr lang="en-US" sz="1400" dirty="0"/>
                        <a:t>500</a:t>
                      </a:r>
                    </a:p>
                  </a:txBody>
                  <a:tcPr anchor="ctr">
                    <a:lnL>
                      <a:noFill/>
                    </a:lnL>
                    <a:lnR>
                      <a:noFill/>
                    </a:lnR>
                    <a:lnT>
                      <a:noFill/>
                    </a:lnT>
                    <a:lnB>
                      <a:noFill/>
                    </a:lnB>
                    <a:noFill/>
                  </a:tcPr>
                </a:tc>
                <a:tc>
                  <a:txBody>
                    <a:bodyPr/>
                    <a:lstStyle/>
                    <a:p>
                      <a:pPr>
                        <a:buNone/>
                      </a:pPr>
                      <a:r>
                        <a:rPr lang="en-US" sz="1400" dirty="0"/>
                        <a:t>~22</a:t>
                      </a:r>
                    </a:p>
                  </a:txBody>
                  <a:tcPr anchor="ctr">
                    <a:lnL>
                      <a:noFill/>
                    </a:lnL>
                    <a:lnR>
                      <a:noFill/>
                    </a:lnR>
                    <a:lnT>
                      <a:noFill/>
                    </a:lnT>
                    <a:lnB>
                      <a:noFill/>
                    </a:lnB>
                    <a:noFill/>
                  </a:tcPr>
                </a:tc>
                <a:extLst>
                  <a:ext uri="{0D108BD9-81ED-4DB2-BD59-A6C34878D82A}">
                    <a16:rowId xmlns:a16="http://schemas.microsoft.com/office/drawing/2014/main" val="3406432057"/>
                  </a:ext>
                </a:extLst>
              </a:tr>
            </a:tbl>
          </a:graphicData>
        </a:graphic>
      </p:graphicFrame>
    </p:spTree>
    <p:extLst>
      <p:ext uri="{BB962C8B-B14F-4D97-AF65-F5344CB8AC3E}">
        <p14:creationId xmlns:p14="http://schemas.microsoft.com/office/powerpoint/2010/main" val="1896325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103534-32FA-AD33-D25D-AE0174A1DDB6}"/>
              </a:ext>
            </a:extLst>
          </p:cNvPr>
          <p:cNvSpPr txBox="1"/>
          <p:nvPr/>
        </p:nvSpPr>
        <p:spPr>
          <a:xfrm>
            <a:off x="505206" y="566678"/>
            <a:ext cx="6645402" cy="16004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Key Observations: </a:t>
            </a:r>
            <a:br>
              <a:rPr kumimoji="0" lang="en-US" altLang="en-US" sz="1400" b="0" i="0" u="none" strike="noStrike" cap="none" normalizeH="0" baseline="0" dirty="0">
                <a:ln>
                  <a:noFill/>
                </a:ln>
                <a:solidFill>
                  <a:schemeClr val="tx1"/>
                </a:solidFill>
                <a:effectLst/>
                <a:latin typeface="Arial" panose="020B0604020202020204" pitchFamily="34" charset="0"/>
              </a:rPr>
            </a:b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When there are fewer items, the model can manage them well.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As the number of items increases, forgetting becomes stronger.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model must spread attention across more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It becomes harder to maintain high mastery.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Learning does not collapse but it clearly becomes more difficult.</a:t>
            </a:r>
          </a:p>
        </p:txBody>
      </p:sp>
    </p:spTree>
    <p:extLst>
      <p:ext uri="{BB962C8B-B14F-4D97-AF65-F5344CB8AC3E}">
        <p14:creationId xmlns:p14="http://schemas.microsoft.com/office/powerpoint/2010/main" val="428108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3FFA8A-D116-59CF-352A-F56EF5F6DFEA}"/>
              </a:ext>
            </a:extLst>
          </p:cNvPr>
          <p:cNvSpPr txBox="1"/>
          <p:nvPr/>
        </p:nvSpPr>
        <p:spPr>
          <a:xfrm>
            <a:off x="7344918" y="284357"/>
            <a:ext cx="3445002" cy="1954381"/>
          </a:xfrm>
          <a:prstGeom prst="rect">
            <a:avLst/>
          </a:prstGeom>
          <a:noFill/>
        </p:spPr>
        <p:txBody>
          <a:bodyPr wrap="square">
            <a:spAutoFit/>
          </a:bodyPr>
          <a:lstStyle/>
          <a:p>
            <a:r>
              <a:rPr lang="en-US" sz="1100" dirty="0"/>
              <a:t># Small gap</a:t>
            </a:r>
          </a:p>
          <a:p>
            <a:r>
              <a:rPr lang="en-US" sz="1100" dirty="0" err="1"/>
              <a:t>alpha_grid</a:t>
            </a:r>
            <a:r>
              <a:rPr lang="en-US" sz="1100" dirty="0"/>
              <a:t> = </a:t>
            </a:r>
            <a:r>
              <a:rPr lang="en-US" sz="1100" dirty="0" err="1"/>
              <a:t>np.linspace</a:t>
            </a:r>
            <a:r>
              <a:rPr lang="en-US" sz="1100" dirty="0"/>
              <a:t>(2e-6, 3e-6, </a:t>
            </a:r>
            <a:r>
              <a:rPr lang="en-US" sz="1100" dirty="0" err="1"/>
              <a:t>n_groups</a:t>
            </a:r>
            <a:r>
              <a:rPr lang="en-US" sz="1100" dirty="0"/>
              <a:t>)</a:t>
            </a:r>
          </a:p>
          <a:p>
            <a:endParaRPr lang="en-US" sz="1100" dirty="0"/>
          </a:p>
          <a:p>
            <a:r>
              <a:rPr lang="en-US" sz="1100" dirty="0"/>
              <a:t># Medium gap (default)</a:t>
            </a:r>
          </a:p>
          <a:p>
            <a:r>
              <a:rPr lang="en-US" sz="1100" dirty="0" err="1"/>
              <a:t>alpha_grid</a:t>
            </a:r>
            <a:r>
              <a:rPr lang="en-US" sz="1100" dirty="0"/>
              <a:t> = </a:t>
            </a:r>
            <a:r>
              <a:rPr lang="en-US" sz="1100" dirty="0" err="1"/>
              <a:t>np.linspace</a:t>
            </a:r>
            <a:r>
              <a:rPr lang="en-US" sz="1100" dirty="0"/>
              <a:t>(2e-6, 6e-6, </a:t>
            </a:r>
            <a:r>
              <a:rPr lang="en-US" sz="1100" dirty="0" err="1"/>
              <a:t>n_groups</a:t>
            </a:r>
            <a:r>
              <a:rPr lang="en-US" sz="1100" dirty="0"/>
              <a:t>)</a:t>
            </a:r>
          </a:p>
          <a:p>
            <a:endParaRPr lang="en-US" sz="1100" dirty="0"/>
          </a:p>
          <a:p>
            <a:r>
              <a:rPr lang="en-US" sz="1100" dirty="0"/>
              <a:t># Large gap</a:t>
            </a:r>
          </a:p>
          <a:p>
            <a:r>
              <a:rPr lang="en-US" sz="1100" dirty="0" err="1"/>
              <a:t>alpha_grid</a:t>
            </a:r>
            <a:r>
              <a:rPr lang="en-US" sz="1100" dirty="0"/>
              <a:t> = </a:t>
            </a:r>
            <a:r>
              <a:rPr lang="en-US" sz="1100" dirty="0" err="1"/>
              <a:t>np.linspace</a:t>
            </a:r>
            <a:r>
              <a:rPr lang="en-US" sz="1100" dirty="0"/>
              <a:t>(1e-6, 1e-5, </a:t>
            </a:r>
            <a:r>
              <a:rPr lang="en-US" sz="1100" dirty="0" err="1"/>
              <a:t>n_groups</a:t>
            </a:r>
            <a:r>
              <a:rPr lang="en-US" sz="1100" dirty="0"/>
              <a:t>)</a:t>
            </a:r>
            <a:br>
              <a:rPr lang="en-US" sz="1100" dirty="0"/>
            </a:br>
            <a:br>
              <a:rPr lang="en-US" sz="1100" dirty="0"/>
            </a:br>
            <a:r>
              <a:rPr lang="en-US" sz="1100" dirty="0"/>
              <a:t>Horizon:1500</a:t>
            </a:r>
            <a:br>
              <a:rPr lang="en-US" sz="1100" dirty="0"/>
            </a:br>
            <a:r>
              <a:rPr lang="en-US" sz="1100" dirty="0"/>
              <a:t>items:200</a:t>
            </a:r>
          </a:p>
        </p:txBody>
      </p:sp>
      <p:sp>
        <p:nvSpPr>
          <p:cNvPr id="5" name="TextBox 4">
            <a:extLst>
              <a:ext uri="{FF2B5EF4-FFF2-40B4-BE49-F238E27FC236}">
                <a16:creationId xmlns:a16="http://schemas.microsoft.com/office/drawing/2014/main" id="{F7CCFDBC-E934-1773-2705-F5FA8D66578E}"/>
              </a:ext>
            </a:extLst>
          </p:cNvPr>
          <p:cNvSpPr txBox="1"/>
          <p:nvPr/>
        </p:nvSpPr>
        <p:spPr>
          <a:xfrm>
            <a:off x="706374" y="336542"/>
            <a:ext cx="6094476" cy="369332"/>
          </a:xfrm>
          <a:prstGeom prst="rect">
            <a:avLst/>
          </a:prstGeom>
          <a:noFill/>
        </p:spPr>
        <p:txBody>
          <a:bodyPr wrap="square">
            <a:spAutoFit/>
          </a:bodyPr>
          <a:lstStyle/>
          <a:p>
            <a:r>
              <a:rPr lang="en-US" b="1" dirty="0"/>
              <a:t>Experiment 4 — Alpha Gap Sweep</a:t>
            </a:r>
          </a:p>
        </p:txBody>
      </p:sp>
      <p:sp>
        <p:nvSpPr>
          <p:cNvPr id="7" name="TextBox 6">
            <a:extLst>
              <a:ext uri="{FF2B5EF4-FFF2-40B4-BE49-F238E27FC236}">
                <a16:creationId xmlns:a16="http://schemas.microsoft.com/office/drawing/2014/main" id="{EFF90FAF-F8A9-FB37-F603-EB025B326A4A}"/>
              </a:ext>
            </a:extLst>
          </p:cNvPr>
          <p:cNvSpPr txBox="1"/>
          <p:nvPr/>
        </p:nvSpPr>
        <p:spPr>
          <a:xfrm>
            <a:off x="706374" y="859762"/>
            <a:ext cx="6094476" cy="523220"/>
          </a:xfrm>
          <a:prstGeom prst="rect">
            <a:avLst/>
          </a:prstGeom>
          <a:noFill/>
        </p:spPr>
        <p:txBody>
          <a:bodyPr wrap="square">
            <a:spAutoFit/>
          </a:bodyPr>
          <a:lstStyle/>
          <a:p>
            <a:pPr>
              <a:buNone/>
            </a:pPr>
            <a:r>
              <a:rPr lang="en-US" sz="1400" b="1" dirty="0"/>
              <a:t>Research Question</a:t>
            </a:r>
          </a:p>
          <a:p>
            <a:pPr>
              <a:buNone/>
            </a:pPr>
            <a:r>
              <a:rPr lang="en-US" sz="1400" dirty="0"/>
              <a:t>Does hierarchy help more when learners forget at very different speeds?</a:t>
            </a:r>
          </a:p>
        </p:txBody>
      </p:sp>
      <p:graphicFrame>
        <p:nvGraphicFramePr>
          <p:cNvPr id="8" name="Table 7">
            <a:extLst>
              <a:ext uri="{FF2B5EF4-FFF2-40B4-BE49-F238E27FC236}">
                <a16:creationId xmlns:a16="http://schemas.microsoft.com/office/drawing/2014/main" id="{ADB3CE13-D5BF-8EC3-3A49-E9C20A7BDEF7}"/>
              </a:ext>
            </a:extLst>
          </p:cNvPr>
          <p:cNvGraphicFramePr>
            <a:graphicFrameLocks noGrp="1"/>
          </p:cNvGraphicFramePr>
          <p:nvPr>
            <p:extLst>
              <p:ext uri="{D42A27DB-BD31-4B8C-83A1-F6EECF244321}">
                <p14:modId xmlns:p14="http://schemas.microsoft.com/office/powerpoint/2010/main" val="2678587750"/>
              </p:ext>
            </p:extLst>
          </p:nvPr>
        </p:nvGraphicFramePr>
        <p:xfrm>
          <a:off x="904113" y="2542714"/>
          <a:ext cx="5962650" cy="1219200"/>
        </p:xfrm>
        <a:graphic>
          <a:graphicData uri="http://schemas.openxmlformats.org/drawingml/2006/table">
            <a:tbl>
              <a:tblPr/>
              <a:tblGrid>
                <a:gridCol w="2981325">
                  <a:extLst>
                    <a:ext uri="{9D8B030D-6E8A-4147-A177-3AD203B41FA5}">
                      <a16:colId xmlns:a16="http://schemas.microsoft.com/office/drawing/2014/main" val="814040459"/>
                    </a:ext>
                  </a:extLst>
                </a:gridCol>
                <a:gridCol w="2981325">
                  <a:extLst>
                    <a:ext uri="{9D8B030D-6E8A-4147-A177-3AD203B41FA5}">
                      <a16:colId xmlns:a16="http://schemas.microsoft.com/office/drawing/2014/main" val="43213421"/>
                    </a:ext>
                  </a:extLst>
                </a:gridCol>
              </a:tblGrid>
              <a:tr h="0">
                <a:tc>
                  <a:txBody>
                    <a:bodyPr/>
                    <a:lstStyle/>
                    <a:p>
                      <a:pPr>
                        <a:buNone/>
                      </a:pPr>
                      <a:r>
                        <a:rPr lang="en-US" sz="1400"/>
                        <a:t>Gap</a:t>
                      </a:r>
                    </a:p>
                  </a:txBody>
                  <a:tcPr anchor="ctr">
                    <a:lnL>
                      <a:noFill/>
                    </a:lnL>
                    <a:lnR>
                      <a:noFill/>
                    </a:lnR>
                    <a:lnT>
                      <a:noFill/>
                    </a:lnT>
                    <a:lnB>
                      <a:noFill/>
                    </a:lnB>
                    <a:noFill/>
                  </a:tcPr>
                </a:tc>
                <a:tc>
                  <a:txBody>
                    <a:bodyPr/>
                    <a:lstStyle/>
                    <a:p>
                      <a:pPr>
                        <a:buNone/>
                      </a:pPr>
                      <a:r>
                        <a:rPr lang="en-US" sz="1400"/>
                        <a:t>Mastery</a:t>
                      </a:r>
                    </a:p>
                  </a:txBody>
                  <a:tcPr anchor="ctr">
                    <a:lnL>
                      <a:noFill/>
                    </a:lnL>
                    <a:lnR>
                      <a:noFill/>
                    </a:lnR>
                    <a:lnT>
                      <a:noFill/>
                    </a:lnT>
                    <a:lnB>
                      <a:noFill/>
                    </a:lnB>
                    <a:noFill/>
                  </a:tcPr>
                </a:tc>
                <a:extLst>
                  <a:ext uri="{0D108BD9-81ED-4DB2-BD59-A6C34878D82A}">
                    <a16:rowId xmlns:a16="http://schemas.microsoft.com/office/drawing/2014/main" val="1812313251"/>
                  </a:ext>
                </a:extLst>
              </a:tr>
              <a:tr h="0">
                <a:tc>
                  <a:txBody>
                    <a:bodyPr/>
                    <a:lstStyle/>
                    <a:p>
                      <a:pPr>
                        <a:buNone/>
                      </a:pPr>
                      <a:r>
                        <a:rPr lang="en-US" sz="1400" dirty="0"/>
                        <a:t>Small</a:t>
                      </a:r>
                    </a:p>
                  </a:txBody>
                  <a:tcPr anchor="ctr">
                    <a:lnL>
                      <a:noFill/>
                    </a:lnL>
                    <a:lnR>
                      <a:noFill/>
                    </a:lnR>
                    <a:lnT>
                      <a:noFill/>
                    </a:lnT>
                    <a:lnB>
                      <a:noFill/>
                    </a:lnB>
                    <a:noFill/>
                  </a:tcPr>
                </a:tc>
                <a:tc>
                  <a:txBody>
                    <a:bodyPr/>
                    <a:lstStyle/>
                    <a:p>
                      <a:pPr>
                        <a:buNone/>
                      </a:pPr>
                      <a:r>
                        <a:rPr lang="en-US" sz="1400"/>
                        <a:t>~34.7</a:t>
                      </a:r>
                    </a:p>
                  </a:txBody>
                  <a:tcPr anchor="ctr">
                    <a:lnL>
                      <a:noFill/>
                    </a:lnL>
                    <a:lnR>
                      <a:noFill/>
                    </a:lnR>
                    <a:lnT>
                      <a:noFill/>
                    </a:lnT>
                    <a:lnB>
                      <a:noFill/>
                    </a:lnB>
                    <a:noFill/>
                  </a:tcPr>
                </a:tc>
                <a:extLst>
                  <a:ext uri="{0D108BD9-81ED-4DB2-BD59-A6C34878D82A}">
                    <a16:rowId xmlns:a16="http://schemas.microsoft.com/office/drawing/2014/main" val="2311337386"/>
                  </a:ext>
                </a:extLst>
              </a:tr>
              <a:tr h="0">
                <a:tc>
                  <a:txBody>
                    <a:bodyPr/>
                    <a:lstStyle/>
                    <a:p>
                      <a:pPr>
                        <a:buNone/>
                      </a:pPr>
                      <a:r>
                        <a:rPr lang="en-US" sz="1400"/>
                        <a:t>Medium</a:t>
                      </a:r>
                    </a:p>
                  </a:txBody>
                  <a:tcPr anchor="ctr">
                    <a:lnL>
                      <a:noFill/>
                    </a:lnL>
                    <a:lnR>
                      <a:noFill/>
                    </a:lnR>
                    <a:lnT>
                      <a:noFill/>
                    </a:lnT>
                    <a:lnB>
                      <a:noFill/>
                    </a:lnB>
                    <a:noFill/>
                  </a:tcPr>
                </a:tc>
                <a:tc>
                  <a:txBody>
                    <a:bodyPr/>
                    <a:lstStyle/>
                    <a:p>
                      <a:pPr>
                        <a:buNone/>
                      </a:pPr>
                      <a:r>
                        <a:rPr lang="en-US" sz="1400" dirty="0"/>
                        <a:t>~33.6</a:t>
                      </a:r>
                    </a:p>
                  </a:txBody>
                  <a:tcPr anchor="ctr">
                    <a:lnL>
                      <a:noFill/>
                    </a:lnL>
                    <a:lnR>
                      <a:noFill/>
                    </a:lnR>
                    <a:lnT>
                      <a:noFill/>
                    </a:lnT>
                    <a:lnB>
                      <a:noFill/>
                    </a:lnB>
                    <a:noFill/>
                  </a:tcPr>
                </a:tc>
                <a:extLst>
                  <a:ext uri="{0D108BD9-81ED-4DB2-BD59-A6C34878D82A}">
                    <a16:rowId xmlns:a16="http://schemas.microsoft.com/office/drawing/2014/main" val="1464014706"/>
                  </a:ext>
                </a:extLst>
              </a:tr>
              <a:tr h="0">
                <a:tc>
                  <a:txBody>
                    <a:bodyPr/>
                    <a:lstStyle/>
                    <a:p>
                      <a:pPr>
                        <a:buNone/>
                      </a:pPr>
                      <a:r>
                        <a:rPr lang="en-US" sz="1400" dirty="0"/>
                        <a:t>Large</a:t>
                      </a:r>
                    </a:p>
                  </a:txBody>
                  <a:tcPr anchor="ctr">
                    <a:lnL>
                      <a:noFill/>
                    </a:lnL>
                    <a:lnR>
                      <a:noFill/>
                    </a:lnR>
                    <a:lnT>
                      <a:noFill/>
                    </a:lnT>
                    <a:lnB>
                      <a:noFill/>
                    </a:lnB>
                    <a:noFill/>
                  </a:tcPr>
                </a:tc>
                <a:tc>
                  <a:txBody>
                    <a:bodyPr/>
                    <a:lstStyle/>
                    <a:p>
                      <a:pPr>
                        <a:buNone/>
                      </a:pPr>
                      <a:r>
                        <a:rPr lang="en-US" sz="1400" dirty="0"/>
                        <a:t>~34.1</a:t>
                      </a:r>
                    </a:p>
                  </a:txBody>
                  <a:tcPr anchor="ctr">
                    <a:lnL>
                      <a:noFill/>
                    </a:lnL>
                    <a:lnR>
                      <a:noFill/>
                    </a:lnR>
                    <a:lnT>
                      <a:noFill/>
                    </a:lnT>
                    <a:lnB>
                      <a:noFill/>
                    </a:lnB>
                    <a:noFill/>
                  </a:tcPr>
                </a:tc>
                <a:extLst>
                  <a:ext uri="{0D108BD9-81ED-4DB2-BD59-A6C34878D82A}">
                    <a16:rowId xmlns:a16="http://schemas.microsoft.com/office/drawing/2014/main" val="2597435600"/>
                  </a:ext>
                </a:extLst>
              </a:tr>
            </a:tbl>
          </a:graphicData>
        </a:graphic>
      </p:graphicFrame>
      <p:sp>
        <p:nvSpPr>
          <p:cNvPr id="10" name="TextBox 9">
            <a:extLst>
              <a:ext uri="{FF2B5EF4-FFF2-40B4-BE49-F238E27FC236}">
                <a16:creationId xmlns:a16="http://schemas.microsoft.com/office/drawing/2014/main" id="{8EC6BCF2-80E9-9A20-3EDB-463F97D6E829}"/>
              </a:ext>
            </a:extLst>
          </p:cNvPr>
          <p:cNvSpPr txBox="1"/>
          <p:nvPr/>
        </p:nvSpPr>
        <p:spPr>
          <a:xfrm>
            <a:off x="838200" y="1957046"/>
            <a:ext cx="6094476" cy="369332"/>
          </a:xfrm>
          <a:prstGeom prst="rect">
            <a:avLst/>
          </a:prstGeom>
          <a:noFill/>
        </p:spPr>
        <p:txBody>
          <a:bodyPr wrap="square">
            <a:spAutoFit/>
          </a:bodyPr>
          <a:lstStyle/>
          <a:p>
            <a:r>
              <a:rPr lang="en-US" dirty="0"/>
              <a:t>Results</a:t>
            </a:r>
          </a:p>
        </p:txBody>
      </p:sp>
      <p:sp>
        <p:nvSpPr>
          <p:cNvPr id="12" name="TextBox 11">
            <a:extLst>
              <a:ext uri="{FF2B5EF4-FFF2-40B4-BE49-F238E27FC236}">
                <a16:creationId xmlns:a16="http://schemas.microsoft.com/office/drawing/2014/main" id="{108798DB-77BD-00EF-C790-9B44BBB49E01}"/>
              </a:ext>
            </a:extLst>
          </p:cNvPr>
          <p:cNvSpPr txBox="1"/>
          <p:nvPr/>
        </p:nvSpPr>
        <p:spPr>
          <a:xfrm>
            <a:off x="904113" y="2234937"/>
            <a:ext cx="6094476" cy="307777"/>
          </a:xfrm>
          <a:prstGeom prst="rect">
            <a:avLst/>
          </a:prstGeom>
          <a:noFill/>
        </p:spPr>
        <p:txBody>
          <a:bodyPr wrap="square">
            <a:spAutoFit/>
          </a:bodyPr>
          <a:lstStyle/>
          <a:p>
            <a:r>
              <a:rPr lang="en-US" sz="1400" dirty="0"/>
              <a:t>Group 0 — Smoothed Mastery</a:t>
            </a:r>
          </a:p>
        </p:txBody>
      </p:sp>
      <p:sp>
        <p:nvSpPr>
          <p:cNvPr id="14" name="TextBox 13">
            <a:extLst>
              <a:ext uri="{FF2B5EF4-FFF2-40B4-BE49-F238E27FC236}">
                <a16:creationId xmlns:a16="http://schemas.microsoft.com/office/drawing/2014/main" id="{E204CBB1-85F5-8E9F-AC9A-0A50B662FC92}"/>
              </a:ext>
            </a:extLst>
          </p:cNvPr>
          <p:cNvSpPr txBox="1"/>
          <p:nvPr/>
        </p:nvSpPr>
        <p:spPr>
          <a:xfrm>
            <a:off x="904113" y="3945955"/>
            <a:ext cx="6094476" cy="307777"/>
          </a:xfrm>
          <a:prstGeom prst="rect">
            <a:avLst/>
          </a:prstGeom>
          <a:noFill/>
        </p:spPr>
        <p:txBody>
          <a:bodyPr wrap="square">
            <a:spAutoFit/>
          </a:bodyPr>
          <a:lstStyle/>
          <a:p>
            <a:r>
              <a:rPr lang="en-US" sz="1400" dirty="0"/>
              <a:t>Group 1 — Smoothed Mastery</a:t>
            </a:r>
          </a:p>
        </p:txBody>
      </p:sp>
      <p:graphicFrame>
        <p:nvGraphicFramePr>
          <p:cNvPr id="15" name="Table 14">
            <a:extLst>
              <a:ext uri="{FF2B5EF4-FFF2-40B4-BE49-F238E27FC236}">
                <a16:creationId xmlns:a16="http://schemas.microsoft.com/office/drawing/2014/main" id="{8B0DC317-7023-C831-4E12-954F1FF6AAB1}"/>
              </a:ext>
            </a:extLst>
          </p:cNvPr>
          <p:cNvGraphicFramePr>
            <a:graphicFrameLocks noGrp="1"/>
          </p:cNvGraphicFramePr>
          <p:nvPr>
            <p:extLst>
              <p:ext uri="{D42A27DB-BD31-4B8C-83A1-F6EECF244321}">
                <p14:modId xmlns:p14="http://schemas.microsoft.com/office/powerpoint/2010/main" val="325032947"/>
              </p:ext>
            </p:extLst>
          </p:nvPr>
        </p:nvGraphicFramePr>
        <p:xfrm>
          <a:off x="904113" y="4315287"/>
          <a:ext cx="6226304" cy="1219200"/>
        </p:xfrm>
        <a:graphic>
          <a:graphicData uri="http://schemas.openxmlformats.org/drawingml/2006/table">
            <a:tbl>
              <a:tblPr/>
              <a:tblGrid>
                <a:gridCol w="3113152">
                  <a:extLst>
                    <a:ext uri="{9D8B030D-6E8A-4147-A177-3AD203B41FA5}">
                      <a16:colId xmlns:a16="http://schemas.microsoft.com/office/drawing/2014/main" val="3020157691"/>
                    </a:ext>
                  </a:extLst>
                </a:gridCol>
                <a:gridCol w="3113152">
                  <a:extLst>
                    <a:ext uri="{9D8B030D-6E8A-4147-A177-3AD203B41FA5}">
                      <a16:colId xmlns:a16="http://schemas.microsoft.com/office/drawing/2014/main" val="2079910043"/>
                    </a:ext>
                  </a:extLst>
                </a:gridCol>
              </a:tblGrid>
              <a:tr h="0">
                <a:tc>
                  <a:txBody>
                    <a:bodyPr/>
                    <a:lstStyle/>
                    <a:p>
                      <a:pPr>
                        <a:buNone/>
                      </a:pPr>
                      <a:r>
                        <a:rPr lang="en-US" sz="1400"/>
                        <a:t>Gap</a:t>
                      </a:r>
                    </a:p>
                  </a:txBody>
                  <a:tcPr anchor="ctr">
                    <a:lnL>
                      <a:noFill/>
                    </a:lnL>
                    <a:lnR>
                      <a:noFill/>
                    </a:lnR>
                    <a:lnT>
                      <a:noFill/>
                    </a:lnT>
                    <a:lnB>
                      <a:noFill/>
                    </a:lnB>
                    <a:noFill/>
                  </a:tcPr>
                </a:tc>
                <a:tc>
                  <a:txBody>
                    <a:bodyPr/>
                    <a:lstStyle/>
                    <a:p>
                      <a:pPr>
                        <a:buNone/>
                      </a:pPr>
                      <a:r>
                        <a:rPr lang="en-US" sz="1400"/>
                        <a:t>Mastery</a:t>
                      </a:r>
                    </a:p>
                  </a:txBody>
                  <a:tcPr anchor="ctr">
                    <a:lnL>
                      <a:noFill/>
                    </a:lnL>
                    <a:lnR>
                      <a:noFill/>
                    </a:lnR>
                    <a:lnT>
                      <a:noFill/>
                    </a:lnT>
                    <a:lnB>
                      <a:noFill/>
                    </a:lnB>
                    <a:noFill/>
                  </a:tcPr>
                </a:tc>
                <a:extLst>
                  <a:ext uri="{0D108BD9-81ED-4DB2-BD59-A6C34878D82A}">
                    <a16:rowId xmlns:a16="http://schemas.microsoft.com/office/drawing/2014/main" val="473785559"/>
                  </a:ext>
                </a:extLst>
              </a:tr>
              <a:tr h="0">
                <a:tc>
                  <a:txBody>
                    <a:bodyPr/>
                    <a:lstStyle/>
                    <a:p>
                      <a:pPr>
                        <a:buNone/>
                      </a:pPr>
                      <a:r>
                        <a:rPr lang="en-US" sz="1400" dirty="0"/>
                        <a:t>Small</a:t>
                      </a:r>
                    </a:p>
                  </a:txBody>
                  <a:tcPr anchor="ctr">
                    <a:lnL>
                      <a:noFill/>
                    </a:lnL>
                    <a:lnR>
                      <a:noFill/>
                    </a:lnR>
                    <a:lnT>
                      <a:noFill/>
                    </a:lnT>
                    <a:lnB>
                      <a:noFill/>
                    </a:lnB>
                    <a:noFill/>
                  </a:tcPr>
                </a:tc>
                <a:tc>
                  <a:txBody>
                    <a:bodyPr/>
                    <a:lstStyle/>
                    <a:p>
                      <a:pPr>
                        <a:buNone/>
                      </a:pPr>
                      <a:r>
                        <a:rPr lang="en-US" sz="1400"/>
                        <a:t>~35.6</a:t>
                      </a:r>
                    </a:p>
                  </a:txBody>
                  <a:tcPr anchor="ctr">
                    <a:lnL>
                      <a:noFill/>
                    </a:lnL>
                    <a:lnR>
                      <a:noFill/>
                    </a:lnR>
                    <a:lnT>
                      <a:noFill/>
                    </a:lnT>
                    <a:lnB>
                      <a:noFill/>
                    </a:lnB>
                    <a:noFill/>
                  </a:tcPr>
                </a:tc>
                <a:extLst>
                  <a:ext uri="{0D108BD9-81ED-4DB2-BD59-A6C34878D82A}">
                    <a16:rowId xmlns:a16="http://schemas.microsoft.com/office/drawing/2014/main" val="4232747382"/>
                  </a:ext>
                </a:extLst>
              </a:tr>
              <a:tr h="0">
                <a:tc>
                  <a:txBody>
                    <a:bodyPr/>
                    <a:lstStyle/>
                    <a:p>
                      <a:pPr>
                        <a:buNone/>
                      </a:pPr>
                      <a:r>
                        <a:rPr lang="en-US" sz="1400"/>
                        <a:t>Medium</a:t>
                      </a:r>
                    </a:p>
                  </a:txBody>
                  <a:tcPr anchor="ctr">
                    <a:lnL>
                      <a:noFill/>
                    </a:lnL>
                    <a:lnR>
                      <a:noFill/>
                    </a:lnR>
                    <a:lnT>
                      <a:noFill/>
                    </a:lnT>
                    <a:lnB>
                      <a:noFill/>
                    </a:lnB>
                    <a:noFill/>
                  </a:tcPr>
                </a:tc>
                <a:tc>
                  <a:txBody>
                    <a:bodyPr/>
                    <a:lstStyle/>
                    <a:p>
                      <a:pPr>
                        <a:buNone/>
                      </a:pPr>
                      <a:r>
                        <a:rPr lang="en-US" sz="1400" dirty="0"/>
                        <a:t>~37.8</a:t>
                      </a:r>
                    </a:p>
                  </a:txBody>
                  <a:tcPr anchor="ctr">
                    <a:lnL>
                      <a:noFill/>
                    </a:lnL>
                    <a:lnR>
                      <a:noFill/>
                    </a:lnR>
                    <a:lnT>
                      <a:noFill/>
                    </a:lnT>
                    <a:lnB>
                      <a:noFill/>
                    </a:lnB>
                    <a:noFill/>
                  </a:tcPr>
                </a:tc>
                <a:extLst>
                  <a:ext uri="{0D108BD9-81ED-4DB2-BD59-A6C34878D82A}">
                    <a16:rowId xmlns:a16="http://schemas.microsoft.com/office/drawing/2014/main" val="4054454337"/>
                  </a:ext>
                </a:extLst>
              </a:tr>
              <a:tr h="0">
                <a:tc>
                  <a:txBody>
                    <a:bodyPr/>
                    <a:lstStyle/>
                    <a:p>
                      <a:pPr>
                        <a:buNone/>
                      </a:pPr>
                      <a:r>
                        <a:rPr lang="en-US" sz="1400"/>
                        <a:t>Large</a:t>
                      </a:r>
                    </a:p>
                  </a:txBody>
                  <a:tcPr anchor="ctr">
                    <a:lnL>
                      <a:noFill/>
                    </a:lnL>
                    <a:lnR>
                      <a:noFill/>
                    </a:lnR>
                    <a:lnT>
                      <a:noFill/>
                    </a:lnT>
                    <a:lnB>
                      <a:noFill/>
                    </a:lnB>
                    <a:noFill/>
                  </a:tcPr>
                </a:tc>
                <a:tc>
                  <a:txBody>
                    <a:bodyPr/>
                    <a:lstStyle/>
                    <a:p>
                      <a:pPr>
                        <a:buNone/>
                      </a:pPr>
                      <a:r>
                        <a:rPr lang="en-US" sz="1400" dirty="0"/>
                        <a:t>~39.5</a:t>
                      </a:r>
                    </a:p>
                  </a:txBody>
                  <a:tcPr anchor="ctr">
                    <a:lnL>
                      <a:noFill/>
                    </a:lnL>
                    <a:lnR>
                      <a:noFill/>
                    </a:lnR>
                    <a:lnT>
                      <a:noFill/>
                    </a:lnT>
                    <a:lnB>
                      <a:noFill/>
                    </a:lnB>
                    <a:noFill/>
                  </a:tcPr>
                </a:tc>
                <a:extLst>
                  <a:ext uri="{0D108BD9-81ED-4DB2-BD59-A6C34878D82A}">
                    <a16:rowId xmlns:a16="http://schemas.microsoft.com/office/drawing/2014/main" val="904107077"/>
                  </a:ext>
                </a:extLst>
              </a:tr>
            </a:tbl>
          </a:graphicData>
        </a:graphic>
      </p:graphicFrame>
    </p:spTree>
    <p:extLst>
      <p:ext uri="{BB962C8B-B14F-4D97-AF65-F5344CB8AC3E}">
        <p14:creationId xmlns:p14="http://schemas.microsoft.com/office/powerpoint/2010/main" val="14776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6A4719-0854-5F3F-5407-5128B38B3378}"/>
              </a:ext>
            </a:extLst>
          </p:cNvPr>
          <p:cNvSpPr txBox="1"/>
          <p:nvPr/>
        </p:nvSpPr>
        <p:spPr>
          <a:xfrm>
            <a:off x="706374" y="648073"/>
            <a:ext cx="6094476" cy="3323987"/>
          </a:xfrm>
          <a:prstGeom prst="rect">
            <a:avLst/>
          </a:prstGeom>
          <a:noFill/>
        </p:spPr>
        <p:txBody>
          <a:bodyPr wrap="square">
            <a:spAutoFit/>
          </a:bodyPr>
          <a:lstStyle/>
          <a:p>
            <a:pPr>
              <a:buNone/>
            </a:pPr>
            <a:r>
              <a:rPr lang="en-US" sz="1400" b="1" dirty="0"/>
              <a:t>Observations</a:t>
            </a:r>
          </a:p>
          <a:p>
            <a:pPr>
              <a:buNone/>
            </a:pPr>
            <a:r>
              <a:rPr lang="en-US" sz="1400" b="1" dirty="0"/>
              <a:t>Small Gap</a:t>
            </a:r>
          </a:p>
          <a:p>
            <a:pPr>
              <a:buFont typeface="Arial" panose="020B0604020202020204" pitchFamily="34" charset="0"/>
              <a:buChar char="•"/>
            </a:pPr>
            <a:r>
              <a:rPr lang="en-US" sz="1400" dirty="0"/>
              <a:t>Learners are almost similar.</a:t>
            </a:r>
          </a:p>
          <a:p>
            <a:pPr>
              <a:buFont typeface="Arial" panose="020B0604020202020204" pitchFamily="34" charset="0"/>
              <a:buChar char="•"/>
            </a:pPr>
            <a:r>
              <a:rPr lang="en-US" sz="1400" dirty="0"/>
              <a:t>Mastery is balanced.</a:t>
            </a:r>
          </a:p>
          <a:p>
            <a:pPr>
              <a:buFont typeface="Arial" panose="020B0604020202020204" pitchFamily="34" charset="0"/>
              <a:buChar char="•"/>
            </a:pPr>
            <a:r>
              <a:rPr lang="en-US" sz="1400" dirty="0"/>
              <a:t>Hierarchy does not change much.</a:t>
            </a:r>
            <a:br>
              <a:rPr lang="en-US" sz="1400" dirty="0"/>
            </a:br>
            <a:endParaRPr lang="en-US" sz="1400" dirty="0"/>
          </a:p>
          <a:p>
            <a:pPr>
              <a:buNone/>
            </a:pPr>
            <a:r>
              <a:rPr lang="en-US" sz="1400" b="1" dirty="0"/>
              <a:t>Medium Gap</a:t>
            </a:r>
          </a:p>
          <a:p>
            <a:pPr>
              <a:buFont typeface="Arial" panose="020B0604020202020204" pitchFamily="34" charset="0"/>
              <a:buChar char="•"/>
            </a:pPr>
            <a:r>
              <a:rPr lang="en-US" sz="1400" dirty="0"/>
              <a:t>Slight separation.</a:t>
            </a:r>
          </a:p>
          <a:p>
            <a:pPr>
              <a:buFont typeface="Arial" panose="020B0604020202020204" pitchFamily="34" charset="0"/>
              <a:buChar char="•"/>
            </a:pPr>
            <a:r>
              <a:rPr lang="en-US" sz="1400" dirty="0"/>
              <a:t>Slight improvement for one group.</a:t>
            </a:r>
          </a:p>
          <a:p>
            <a:pPr>
              <a:buFont typeface="Arial" panose="020B0604020202020204" pitchFamily="34" charset="0"/>
              <a:buChar char="•"/>
            </a:pPr>
            <a:r>
              <a:rPr lang="en-US" sz="1400" dirty="0"/>
              <a:t>Differences begin to appear.</a:t>
            </a:r>
          </a:p>
          <a:p>
            <a:pPr>
              <a:buNone/>
            </a:pPr>
            <a:endParaRPr lang="en-US" sz="1400" dirty="0"/>
          </a:p>
          <a:p>
            <a:pPr>
              <a:buNone/>
            </a:pPr>
            <a:r>
              <a:rPr lang="en-US" sz="1400" b="1" dirty="0"/>
              <a:t>Large Gap</a:t>
            </a:r>
          </a:p>
          <a:p>
            <a:pPr>
              <a:buFont typeface="Arial" panose="020B0604020202020204" pitchFamily="34" charset="0"/>
              <a:buChar char="•"/>
            </a:pPr>
            <a:r>
              <a:rPr lang="en-US" sz="1400" dirty="0"/>
              <a:t>Clear difference in forgetting rates.</a:t>
            </a:r>
          </a:p>
          <a:p>
            <a:pPr>
              <a:buFont typeface="Arial" panose="020B0604020202020204" pitchFamily="34" charset="0"/>
              <a:buChar char="•"/>
            </a:pPr>
            <a:r>
              <a:rPr lang="en-US" sz="1400" dirty="0"/>
              <a:t>Group 1 improves more.</a:t>
            </a:r>
          </a:p>
          <a:p>
            <a:pPr>
              <a:buFont typeface="Arial" panose="020B0604020202020204" pitchFamily="34" charset="0"/>
              <a:buChar char="•"/>
            </a:pPr>
            <a:r>
              <a:rPr lang="en-US" sz="1400" dirty="0"/>
              <a:t>Hierarchy handles heterogeneity better.</a:t>
            </a:r>
          </a:p>
        </p:txBody>
      </p:sp>
      <p:sp>
        <p:nvSpPr>
          <p:cNvPr id="5" name="TextBox 4">
            <a:extLst>
              <a:ext uri="{FF2B5EF4-FFF2-40B4-BE49-F238E27FC236}">
                <a16:creationId xmlns:a16="http://schemas.microsoft.com/office/drawing/2014/main" id="{9CAA3609-8664-0B98-AAF8-78829BF3A0B2}"/>
              </a:ext>
            </a:extLst>
          </p:cNvPr>
          <p:cNvSpPr txBox="1"/>
          <p:nvPr/>
        </p:nvSpPr>
        <p:spPr>
          <a:xfrm>
            <a:off x="706374" y="4143992"/>
            <a:ext cx="6094476" cy="1600438"/>
          </a:xfrm>
          <a:prstGeom prst="rect">
            <a:avLst/>
          </a:prstGeom>
          <a:noFill/>
        </p:spPr>
        <p:txBody>
          <a:bodyPr wrap="square">
            <a:spAutoFit/>
          </a:bodyPr>
          <a:lstStyle/>
          <a:p>
            <a:pPr>
              <a:buNone/>
            </a:pPr>
            <a:r>
              <a:rPr lang="en-US" sz="1400" b="1" dirty="0"/>
              <a:t>Inferences</a:t>
            </a:r>
          </a:p>
          <a:p>
            <a:pPr>
              <a:buNone/>
            </a:pPr>
            <a:endParaRPr lang="en-US" sz="1400" b="1" dirty="0"/>
          </a:p>
          <a:p>
            <a:pPr>
              <a:buNone/>
            </a:pPr>
            <a:r>
              <a:rPr lang="en-US" sz="1400" dirty="0"/>
              <a:t>When learners are similar, hierarchy doesn’t make a big difference.</a:t>
            </a:r>
          </a:p>
          <a:p>
            <a:pPr>
              <a:buFont typeface="Arial" panose="020B0604020202020204" pitchFamily="34" charset="0"/>
              <a:buChar char="•"/>
            </a:pPr>
            <a:r>
              <a:rPr lang="en-US" sz="1400" dirty="0"/>
              <a:t>When learners are very different, hierarchy becomes more useful.</a:t>
            </a:r>
          </a:p>
          <a:p>
            <a:pPr>
              <a:buFont typeface="Arial" panose="020B0604020202020204" pitchFamily="34" charset="0"/>
              <a:buChar char="•"/>
            </a:pPr>
            <a:r>
              <a:rPr lang="en-US" sz="1400" dirty="0"/>
              <a:t>The bigger the forgetting gap, the more important structured modeling becomes.</a:t>
            </a:r>
          </a:p>
          <a:p>
            <a:pPr>
              <a:buFont typeface="Arial" panose="020B0604020202020204" pitchFamily="34" charset="0"/>
              <a:buChar char="•"/>
            </a:pPr>
            <a:r>
              <a:rPr lang="en-US" sz="1400" dirty="0"/>
              <a:t>Hierarchy helps when heterogeneity is strong.</a:t>
            </a:r>
          </a:p>
        </p:txBody>
      </p:sp>
      <p:graphicFrame>
        <p:nvGraphicFramePr>
          <p:cNvPr id="6" name="Table 5">
            <a:extLst>
              <a:ext uri="{FF2B5EF4-FFF2-40B4-BE49-F238E27FC236}">
                <a16:creationId xmlns:a16="http://schemas.microsoft.com/office/drawing/2014/main" id="{45102D4F-AFF6-CBF1-066F-5349532A55DC}"/>
              </a:ext>
            </a:extLst>
          </p:cNvPr>
          <p:cNvGraphicFramePr>
            <a:graphicFrameLocks noGrp="1"/>
          </p:cNvGraphicFramePr>
          <p:nvPr>
            <p:extLst>
              <p:ext uri="{D42A27DB-BD31-4B8C-83A1-F6EECF244321}">
                <p14:modId xmlns:p14="http://schemas.microsoft.com/office/powerpoint/2010/main" val="1575647444"/>
              </p:ext>
            </p:extLst>
          </p:nvPr>
        </p:nvGraphicFramePr>
        <p:xfrm>
          <a:off x="7203186" y="837882"/>
          <a:ext cx="4406646" cy="1219200"/>
        </p:xfrm>
        <a:graphic>
          <a:graphicData uri="http://schemas.openxmlformats.org/drawingml/2006/table">
            <a:tbl>
              <a:tblPr/>
              <a:tblGrid>
                <a:gridCol w="2203323">
                  <a:extLst>
                    <a:ext uri="{9D8B030D-6E8A-4147-A177-3AD203B41FA5}">
                      <a16:colId xmlns:a16="http://schemas.microsoft.com/office/drawing/2014/main" val="2192969954"/>
                    </a:ext>
                  </a:extLst>
                </a:gridCol>
                <a:gridCol w="2203323">
                  <a:extLst>
                    <a:ext uri="{9D8B030D-6E8A-4147-A177-3AD203B41FA5}">
                      <a16:colId xmlns:a16="http://schemas.microsoft.com/office/drawing/2014/main" val="1356537799"/>
                    </a:ext>
                  </a:extLst>
                </a:gridCol>
              </a:tblGrid>
              <a:tr h="0">
                <a:tc>
                  <a:txBody>
                    <a:bodyPr/>
                    <a:lstStyle/>
                    <a:p>
                      <a:pPr>
                        <a:buNone/>
                      </a:pPr>
                      <a:r>
                        <a:rPr lang="en-US" sz="1400"/>
                        <a:t>Gap</a:t>
                      </a:r>
                    </a:p>
                  </a:txBody>
                  <a:tcPr anchor="ctr">
                    <a:lnL>
                      <a:noFill/>
                    </a:lnL>
                    <a:lnR>
                      <a:noFill/>
                    </a:lnR>
                    <a:lnT>
                      <a:noFill/>
                    </a:lnT>
                    <a:lnB>
                      <a:noFill/>
                    </a:lnB>
                    <a:noFill/>
                  </a:tcPr>
                </a:tc>
                <a:tc>
                  <a:txBody>
                    <a:bodyPr/>
                    <a:lstStyle/>
                    <a:p>
                      <a:pPr>
                        <a:buNone/>
                      </a:pPr>
                      <a:r>
                        <a:rPr lang="en-US" sz="1400"/>
                        <a:t>Effect</a:t>
                      </a:r>
                    </a:p>
                  </a:txBody>
                  <a:tcPr anchor="ctr">
                    <a:lnL>
                      <a:noFill/>
                    </a:lnL>
                    <a:lnR>
                      <a:noFill/>
                    </a:lnR>
                    <a:lnT>
                      <a:noFill/>
                    </a:lnT>
                    <a:lnB>
                      <a:noFill/>
                    </a:lnB>
                    <a:noFill/>
                  </a:tcPr>
                </a:tc>
                <a:extLst>
                  <a:ext uri="{0D108BD9-81ED-4DB2-BD59-A6C34878D82A}">
                    <a16:rowId xmlns:a16="http://schemas.microsoft.com/office/drawing/2014/main" val="2033437943"/>
                  </a:ext>
                </a:extLst>
              </a:tr>
              <a:tr h="0">
                <a:tc>
                  <a:txBody>
                    <a:bodyPr/>
                    <a:lstStyle/>
                    <a:p>
                      <a:pPr>
                        <a:buNone/>
                      </a:pPr>
                      <a:r>
                        <a:rPr lang="en-US" sz="1400" dirty="0"/>
                        <a:t>Small</a:t>
                      </a:r>
                    </a:p>
                  </a:txBody>
                  <a:tcPr anchor="ctr">
                    <a:lnL>
                      <a:noFill/>
                    </a:lnL>
                    <a:lnR>
                      <a:noFill/>
                    </a:lnR>
                    <a:lnT>
                      <a:noFill/>
                    </a:lnT>
                    <a:lnB>
                      <a:noFill/>
                    </a:lnB>
                    <a:noFill/>
                  </a:tcPr>
                </a:tc>
                <a:tc>
                  <a:txBody>
                    <a:bodyPr/>
                    <a:lstStyle/>
                    <a:p>
                      <a:pPr>
                        <a:buNone/>
                      </a:pPr>
                      <a:r>
                        <a:rPr lang="en-US" sz="1400"/>
                        <a:t>Little change</a:t>
                      </a:r>
                    </a:p>
                  </a:txBody>
                  <a:tcPr anchor="ctr">
                    <a:lnL>
                      <a:noFill/>
                    </a:lnL>
                    <a:lnR>
                      <a:noFill/>
                    </a:lnR>
                    <a:lnT>
                      <a:noFill/>
                    </a:lnT>
                    <a:lnB>
                      <a:noFill/>
                    </a:lnB>
                    <a:noFill/>
                  </a:tcPr>
                </a:tc>
                <a:extLst>
                  <a:ext uri="{0D108BD9-81ED-4DB2-BD59-A6C34878D82A}">
                    <a16:rowId xmlns:a16="http://schemas.microsoft.com/office/drawing/2014/main" val="2449771074"/>
                  </a:ext>
                </a:extLst>
              </a:tr>
              <a:tr h="0">
                <a:tc>
                  <a:txBody>
                    <a:bodyPr/>
                    <a:lstStyle/>
                    <a:p>
                      <a:pPr>
                        <a:buNone/>
                      </a:pPr>
                      <a:r>
                        <a:rPr lang="en-US" sz="1400"/>
                        <a:t>Medium</a:t>
                      </a:r>
                    </a:p>
                  </a:txBody>
                  <a:tcPr anchor="ctr">
                    <a:lnL>
                      <a:noFill/>
                    </a:lnL>
                    <a:lnR>
                      <a:noFill/>
                    </a:lnR>
                    <a:lnT>
                      <a:noFill/>
                    </a:lnT>
                    <a:lnB>
                      <a:noFill/>
                    </a:lnB>
                    <a:noFill/>
                  </a:tcPr>
                </a:tc>
                <a:tc>
                  <a:txBody>
                    <a:bodyPr/>
                    <a:lstStyle/>
                    <a:p>
                      <a:pPr>
                        <a:buNone/>
                      </a:pPr>
                      <a:r>
                        <a:rPr lang="en-US" sz="1400"/>
                        <a:t>Slight improvement</a:t>
                      </a:r>
                    </a:p>
                  </a:txBody>
                  <a:tcPr anchor="ctr">
                    <a:lnL>
                      <a:noFill/>
                    </a:lnL>
                    <a:lnR>
                      <a:noFill/>
                    </a:lnR>
                    <a:lnT>
                      <a:noFill/>
                    </a:lnT>
                    <a:lnB>
                      <a:noFill/>
                    </a:lnB>
                    <a:noFill/>
                  </a:tcPr>
                </a:tc>
                <a:extLst>
                  <a:ext uri="{0D108BD9-81ED-4DB2-BD59-A6C34878D82A}">
                    <a16:rowId xmlns:a16="http://schemas.microsoft.com/office/drawing/2014/main" val="3003183443"/>
                  </a:ext>
                </a:extLst>
              </a:tr>
              <a:tr h="0">
                <a:tc>
                  <a:txBody>
                    <a:bodyPr/>
                    <a:lstStyle/>
                    <a:p>
                      <a:pPr>
                        <a:buNone/>
                      </a:pPr>
                      <a:r>
                        <a:rPr lang="en-US" sz="1400"/>
                        <a:t>Large</a:t>
                      </a:r>
                    </a:p>
                  </a:txBody>
                  <a:tcPr anchor="ctr">
                    <a:lnL>
                      <a:noFill/>
                    </a:lnL>
                    <a:lnR>
                      <a:noFill/>
                    </a:lnR>
                    <a:lnT>
                      <a:noFill/>
                    </a:lnT>
                    <a:lnB>
                      <a:noFill/>
                    </a:lnB>
                    <a:noFill/>
                  </a:tcPr>
                </a:tc>
                <a:tc>
                  <a:txBody>
                    <a:bodyPr/>
                    <a:lstStyle/>
                    <a:p>
                      <a:pPr>
                        <a:buNone/>
                      </a:pPr>
                      <a:r>
                        <a:rPr lang="en-US" sz="1400" dirty="0"/>
                        <a:t>Clear benefit</a:t>
                      </a:r>
                    </a:p>
                  </a:txBody>
                  <a:tcPr anchor="ctr">
                    <a:lnL>
                      <a:noFill/>
                    </a:lnL>
                    <a:lnR>
                      <a:noFill/>
                    </a:lnR>
                    <a:lnT>
                      <a:noFill/>
                    </a:lnT>
                    <a:lnB>
                      <a:noFill/>
                    </a:lnB>
                    <a:noFill/>
                  </a:tcPr>
                </a:tc>
                <a:extLst>
                  <a:ext uri="{0D108BD9-81ED-4DB2-BD59-A6C34878D82A}">
                    <a16:rowId xmlns:a16="http://schemas.microsoft.com/office/drawing/2014/main" val="3493576103"/>
                  </a:ext>
                </a:extLst>
              </a:tr>
            </a:tbl>
          </a:graphicData>
        </a:graphic>
      </p:graphicFrame>
    </p:spTree>
    <p:extLst>
      <p:ext uri="{BB962C8B-B14F-4D97-AF65-F5344CB8AC3E}">
        <p14:creationId xmlns:p14="http://schemas.microsoft.com/office/powerpoint/2010/main" val="1633292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E2B407-80F9-68F2-7A06-15AB6D6F2900}"/>
              </a:ext>
            </a:extLst>
          </p:cNvPr>
          <p:cNvSpPr txBox="1"/>
          <p:nvPr/>
        </p:nvSpPr>
        <p:spPr>
          <a:xfrm>
            <a:off x="395478" y="391406"/>
            <a:ext cx="6094476" cy="369332"/>
          </a:xfrm>
          <a:prstGeom prst="rect">
            <a:avLst/>
          </a:prstGeom>
          <a:noFill/>
        </p:spPr>
        <p:txBody>
          <a:bodyPr wrap="square">
            <a:spAutoFit/>
          </a:bodyPr>
          <a:lstStyle/>
          <a:p>
            <a:r>
              <a:rPr lang="en-US" dirty="0"/>
              <a:t>Experiment 5 — Reward Penalty Sensitivity</a:t>
            </a:r>
          </a:p>
        </p:txBody>
      </p:sp>
      <p:sp>
        <p:nvSpPr>
          <p:cNvPr id="5" name="TextBox 4">
            <a:extLst>
              <a:ext uri="{FF2B5EF4-FFF2-40B4-BE49-F238E27FC236}">
                <a16:creationId xmlns:a16="http://schemas.microsoft.com/office/drawing/2014/main" id="{458DB4A7-4D6E-86C9-CD22-EC5A543D86A1}"/>
              </a:ext>
            </a:extLst>
          </p:cNvPr>
          <p:cNvSpPr txBox="1"/>
          <p:nvPr/>
        </p:nvSpPr>
        <p:spPr>
          <a:xfrm>
            <a:off x="395478" y="760738"/>
            <a:ext cx="6094476" cy="923330"/>
          </a:xfrm>
          <a:prstGeom prst="rect">
            <a:avLst/>
          </a:prstGeom>
          <a:noFill/>
        </p:spPr>
        <p:txBody>
          <a:bodyPr wrap="square">
            <a:spAutoFit/>
          </a:bodyPr>
          <a:lstStyle/>
          <a:p>
            <a:pPr>
              <a:buNone/>
            </a:pPr>
            <a:r>
              <a:rPr lang="en-US" b="1" dirty="0"/>
              <a:t>Research Question</a:t>
            </a:r>
          </a:p>
          <a:p>
            <a:pPr>
              <a:buNone/>
            </a:pPr>
            <a:r>
              <a:rPr lang="en-US" dirty="0"/>
              <a:t>If we increase the penalty for mistakes,</a:t>
            </a:r>
            <a:br>
              <a:rPr lang="en-US" dirty="0"/>
            </a:br>
            <a:r>
              <a:rPr lang="en-US" dirty="0"/>
              <a:t>does the model behave differently?</a:t>
            </a:r>
          </a:p>
        </p:txBody>
      </p:sp>
      <p:sp>
        <p:nvSpPr>
          <p:cNvPr id="7" name="TextBox 6">
            <a:extLst>
              <a:ext uri="{FF2B5EF4-FFF2-40B4-BE49-F238E27FC236}">
                <a16:creationId xmlns:a16="http://schemas.microsoft.com/office/drawing/2014/main" id="{84697C64-8CF6-E33C-DE8A-375CE681DBF1}"/>
              </a:ext>
            </a:extLst>
          </p:cNvPr>
          <p:cNvSpPr txBox="1"/>
          <p:nvPr/>
        </p:nvSpPr>
        <p:spPr>
          <a:xfrm>
            <a:off x="395478" y="1868734"/>
            <a:ext cx="6094476" cy="369332"/>
          </a:xfrm>
          <a:prstGeom prst="rect">
            <a:avLst/>
          </a:prstGeom>
          <a:noFill/>
        </p:spPr>
        <p:txBody>
          <a:bodyPr wrap="square">
            <a:spAutoFit/>
          </a:bodyPr>
          <a:lstStyle/>
          <a:p>
            <a:r>
              <a:rPr lang="en-US" dirty="0"/>
              <a:t>Group 0 — Smoothed Mastery</a:t>
            </a:r>
          </a:p>
        </p:txBody>
      </p:sp>
      <p:graphicFrame>
        <p:nvGraphicFramePr>
          <p:cNvPr id="8" name="Table 7">
            <a:extLst>
              <a:ext uri="{FF2B5EF4-FFF2-40B4-BE49-F238E27FC236}">
                <a16:creationId xmlns:a16="http://schemas.microsoft.com/office/drawing/2014/main" id="{6EE1E655-152E-6F66-D814-166EB8E395AB}"/>
              </a:ext>
            </a:extLst>
          </p:cNvPr>
          <p:cNvGraphicFramePr>
            <a:graphicFrameLocks noGrp="1"/>
          </p:cNvGraphicFramePr>
          <p:nvPr>
            <p:extLst>
              <p:ext uri="{D42A27DB-BD31-4B8C-83A1-F6EECF244321}">
                <p14:modId xmlns:p14="http://schemas.microsoft.com/office/powerpoint/2010/main" val="3518859634"/>
              </p:ext>
            </p:extLst>
          </p:nvPr>
        </p:nvGraphicFramePr>
        <p:xfrm>
          <a:off x="395478" y="2422732"/>
          <a:ext cx="5151120" cy="1463040"/>
        </p:xfrm>
        <a:graphic>
          <a:graphicData uri="http://schemas.openxmlformats.org/drawingml/2006/table">
            <a:tbl>
              <a:tblPr/>
              <a:tblGrid>
                <a:gridCol w="2575560">
                  <a:extLst>
                    <a:ext uri="{9D8B030D-6E8A-4147-A177-3AD203B41FA5}">
                      <a16:colId xmlns:a16="http://schemas.microsoft.com/office/drawing/2014/main" val="2710046655"/>
                    </a:ext>
                  </a:extLst>
                </a:gridCol>
                <a:gridCol w="2575560">
                  <a:extLst>
                    <a:ext uri="{9D8B030D-6E8A-4147-A177-3AD203B41FA5}">
                      <a16:colId xmlns:a16="http://schemas.microsoft.com/office/drawing/2014/main" val="3810784998"/>
                    </a:ext>
                  </a:extLst>
                </a:gridCol>
              </a:tblGrid>
              <a:tr h="0">
                <a:tc>
                  <a:txBody>
                    <a:bodyPr/>
                    <a:lstStyle/>
                    <a:p>
                      <a:pPr>
                        <a:buNone/>
                      </a:pPr>
                      <a:r>
                        <a:rPr lang="en-US"/>
                        <a:t>Penalty</a:t>
                      </a:r>
                    </a:p>
                  </a:txBody>
                  <a:tcPr anchor="ctr">
                    <a:lnL>
                      <a:noFill/>
                    </a:lnL>
                    <a:lnR>
                      <a:noFill/>
                    </a:lnR>
                    <a:lnT>
                      <a:noFill/>
                    </a:lnT>
                    <a:lnB>
                      <a:noFill/>
                    </a:lnB>
                    <a:noFill/>
                  </a:tcPr>
                </a:tc>
                <a:tc>
                  <a:txBody>
                    <a:bodyPr/>
                    <a:lstStyle/>
                    <a:p>
                      <a:pPr>
                        <a:buNone/>
                      </a:pPr>
                      <a:r>
                        <a:rPr lang="en-US"/>
                        <a:t>Mastery</a:t>
                      </a:r>
                    </a:p>
                  </a:txBody>
                  <a:tcPr anchor="ctr">
                    <a:lnL>
                      <a:noFill/>
                    </a:lnL>
                    <a:lnR>
                      <a:noFill/>
                    </a:lnR>
                    <a:lnT>
                      <a:noFill/>
                    </a:lnT>
                    <a:lnB>
                      <a:noFill/>
                    </a:lnB>
                    <a:noFill/>
                  </a:tcPr>
                </a:tc>
                <a:extLst>
                  <a:ext uri="{0D108BD9-81ED-4DB2-BD59-A6C34878D82A}">
                    <a16:rowId xmlns:a16="http://schemas.microsoft.com/office/drawing/2014/main" val="3069218633"/>
                  </a:ext>
                </a:extLst>
              </a:tr>
              <a:tr h="0">
                <a:tc>
                  <a:txBody>
                    <a:bodyPr/>
                    <a:lstStyle/>
                    <a:p>
                      <a:pPr>
                        <a:buNone/>
                      </a:pPr>
                      <a:r>
                        <a:rPr lang="en-US"/>
                        <a:t>-0.5</a:t>
                      </a:r>
                    </a:p>
                  </a:txBody>
                  <a:tcPr anchor="ctr">
                    <a:lnL>
                      <a:noFill/>
                    </a:lnL>
                    <a:lnR>
                      <a:noFill/>
                    </a:lnR>
                    <a:lnT>
                      <a:noFill/>
                    </a:lnT>
                    <a:lnB>
                      <a:noFill/>
                    </a:lnB>
                    <a:noFill/>
                  </a:tcPr>
                </a:tc>
                <a:tc>
                  <a:txBody>
                    <a:bodyPr/>
                    <a:lstStyle/>
                    <a:p>
                      <a:pPr>
                        <a:buNone/>
                      </a:pPr>
                      <a:r>
                        <a:rPr lang="en-US"/>
                        <a:t>~37.8</a:t>
                      </a:r>
                    </a:p>
                  </a:txBody>
                  <a:tcPr anchor="ctr">
                    <a:lnL>
                      <a:noFill/>
                    </a:lnL>
                    <a:lnR>
                      <a:noFill/>
                    </a:lnR>
                    <a:lnT>
                      <a:noFill/>
                    </a:lnT>
                    <a:lnB>
                      <a:noFill/>
                    </a:lnB>
                    <a:noFill/>
                  </a:tcPr>
                </a:tc>
                <a:extLst>
                  <a:ext uri="{0D108BD9-81ED-4DB2-BD59-A6C34878D82A}">
                    <a16:rowId xmlns:a16="http://schemas.microsoft.com/office/drawing/2014/main" val="3794315736"/>
                  </a:ext>
                </a:extLst>
              </a:tr>
              <a:tr h="0">
                <a:tc>
                  <a:txBody>
                    <a:bodyPr/>
                    <a:lstStyle/>
                    <a:p>
                      <a:pPr>
                        <a:buNone/>
                      </a:pPr>
                      <a:r>
                        <a:rPr lang="en-US"/>
                        <a:t>-1.0</a:t>
                      </a:r>
                    </a:p>
                  </a:txBody>
                  <a:tcPr anchor="ctr">
                    <a:lnL>
                      <a:noFill/>
                    </a:lnL>
                    <a:lnR>
                      <a:noFill/>
                    </a:lnR>
                    <a:lnT>
                      <a:noFill/>
                    </a:lnT>
                    <a:lnB>
                      <a:noFill/>
                    </a:lnB>
                    <a:noFill/>
                  </a:tcPr>
                </a:tc>
                <a:tc>
                  <a:txBody>
                    <a:bodyPr/>
                    <a:lstStyle/>
                    <a:p>
                      <a:pPr>
                        <a:buNone/>
                      </a:pPr>
                      <a:r>
                        <a:rPr lang="en-US"/>
                        <a:t>~33.6</a:t>
                      </a:r>
                    </a:p>
                  </a:txBody>
                  <a:tcPr anchor="ctr">
                    <a:lnL>
                      <a:noFill/>
                    </a:lnL>
                    <a:lnR>
                      <a:noFill/>
                    </a:lnR>
                    <a:lnT>
                      <a:noFill/>
                    </a:lnT>
                    <a:lnB>
                      <a:noFill/>
                    </a:lnB>
                    <a:noFill/>
                  </a:tcPr>
                </a:tc>
                <a:extLst>
                  <a:ext uri="{0D108BD9-81ED-4DB2-BD59-A6C34878D82A}">
                    <a16:rowId xmlns:a16="http://schemas.microsoft.com/office/drawing/2014/main" val="1881146729"/>
                  </a:ext>
                </a:extLst>
              </a:tr>
              <a:tr h="0">
                <a:tc>
                  <a:txBody>
                    <a:bodyPr/>
                    <a:lstStyle/>
                    <a:p>
                      <a:pPr>
                        <a:buNone/>
                      </a:pPr>
                      <a:r>
                        <a:rPr lang="en-US"/>
                        <a:t>-1.5</a:t>
                      </a:r>
                    </a:p>
                  </a:txBody>
                  <a:tcPr anchor="ctr">
                    <a:lnL>
                      <a:noFill/>
                    </a:lnL>
                    <a:lnR>
                      <a:noFill/>
                    </a:lnR>
                    <a:lnT>
                      <a:noFill/>
                    </a:lnT>
                    <a:lnB>
                      <a:noFill/>
                    </a:lnB>
                    <a:noFill/>
                  </a:tcPr>
                </a:tc>
                <a:tc>
                  <a:txBody>
                    <a:bodyPr/>
                    <a:lstStyle/>
                    <a:p>
                      <a:pPr>
                        <a:buNone/>
                      </a:pPr>
                      <a:r>
                        <a:rPr lang="en-US" dirty="0"/>
                        <a:t>~34.5</a:t>
                      </a:r>
                    </a:p>
                  </a:txBody>
                  <a:tcPr anchor="ctr">
                    <a:lnL>
                      <a:noFill/>
                    </a:lnL>
                    <a:lnR>
                      <a:noFill/>
                    </a:lnR>
                    <a:lnT>
                      <a:noFill/>
                    </a:lnT>
                    <a:lnB>
                      <a:noFill/>
                    </a:lnB>
                    <a:noFill/>
                  </a:tcPr>
                </a:tc>
                <a:extLst>
                  <a:ext uri="{0D108BD9-81ED-4DB2-BD59-A6C34878D82A}">
                    <a16:rowId xmlns:a16="http://schemas.microsoft.com/office/drawing/2014/main" val="2243530733"/>
                  </a:ext>
                </a:extLst>
              </a:tr>
            </a:tbl>
          </a:graphicData>
        </a:graphic>
      </p:graphicFrame>
      <p:sp>
        <p:nvSpPr>
          <p:cNvPr id="10" name="TextBox 9">
            <a:extLst>
              <a:ext uri="{FF2B5EF4-FFF2-40B4-BE49-F238E27FC236}">
                <a16:creationId xmlns:a16="http://schemas.microsoft.com/office/drawing/2014/main" id="{721F0B77-83B3-5082-33DC-D74A6D00A527}"/>
              </a:ext>
            </a:extLst>
          </p:cNvPr>
          <p:cNvSpPr txBox="1"/>
          <p:nvPr/>
        </p:nvSpPr>
        <p:spPr>
          <a:xfrm>
            <a:off x="395478" y="4070438"/>
            <a:ext cx="6094476" cy="369332"/>
          </a:xfrm>
          <a:prstGeom prst="rect">
            <a:avLst/>
          </a:prstGeom>
          <a:noFill/>
        </p:spPr>
        <p:txBody>
          <a:bodyPr wrap="square">
            <a:spAutoFit/>
          </a:bodyPr>
          <a:lstStyle/>
          <a:p>
            <a:r>
              <a:rPr lang="en-US" dirty="0"/>
              <a:t>Group 1 — Smoothed Mastery</a:t>
            </a:r>
          </a:p>
        </p:txBody>
      </p:sp>
      <p:graphicFrame>
        <p:nvGraphicFramePr>
          <p:cNvPr id="11" name="Table 10">
            <a:extLst>
              <a:ext uri="{FF2B5EF4-FFF2-40B4-BE49-F238E27FC236}">
                <a16:creationId xmlns:a16="http://schemas.microsoft.com/office/drawing/2014/main" id="{AC286F76-B67E-3C2C-8BD2-84B9CC91B409}"/>
              </a:ext>
            </a:extLst>
          </p:cNvPr>
          <p:cNvGraphicFramePr>
            <a:graphicFrameLocks noGrp="1"/>
          </p:cNvGraphicFramePr>
          <p:nvPr>
            <p:extLst>
              <p:ext uri="{D42A27DB-BD31-4B8C-83A1-F6EECF244321}">
                <p14:modId xmlns:p14="http://schemas.microsoft.com/office/powerpoint/2010/main" val="2851413468"/>
              </p:ext>
            </p:extLst>
          </p:nvPr>
        </p:nvGraphicFramePr>
        <p:xfrm>
          <a:off x="411480" y="4540790"/>
          <a:ext cx="4672584" cy="1463040"/>
        </p:xfrm>
        <a:graphic>
          <a:graphicData uri="http://schemas.openxmlformats.org/drawingml/2006/table">
            <a:tbl>
              <a:tblPr/>
              <a:tblGrid>
                <a:gridCol w="2336292">
                  <a:extLst>
                    <a:ext uri="{9D8B030D-6E8A-4147-A177-3AD203B41FA5}">
                      <a16:colId xmlns:a16="http://schemas.microsoft.com/office/drawing/2014/main" val="4200241749"/>
                    </a:ext>
                  </a:extLst>
                </a:gridCol>
                <a:gridCol w="2336292">
                  <a:extLst>
                    <a:ext uri="{9D8B030D-6E8A-4147-A177-3AD203B41FA5}">
                      <a16:colId xmlns:a16="http://schemas.microsoft.com/office/drawing/2014/main" val="2861154725"/>
                    </a:ext>
                  </a:extLst>
                </a:gridCol>
              </a:tblGrid>
              <a:tr h="0">
                <a:tc>
                  <a:txBody>
                    <a:bodyPr/>
                    <a:lstStyle/>
                    <a:p>
                      <a:pPr>
                        <a:buNone/>
                      </a:pPr>
                      <a:r>
                        <a:rPr lang="en-US"/>
                        <a:t>Penalty</a:t>
                      </a:r>
                    </a:p>
                  </a:txBody>
                  <a:tcPr anchor="ctr">
                    <a:lnL>
                      <a:noFill/>
                    </a:lnL>
                    <a:lnR>
                      <a:noFill/>
                    </a:lnR>
                    <a:lnT>
                      <a:noFill/>
                    </a:lnT>
                    <a:lnB>
                      <a:noFill/>
                    </a:lnB>
                    <a:noFill/>
                  </a:tcPr>
                </a:tc>
                <a:tc>
                  <a:txBody>
                    <a:bodyPr/>
                    <a:lstStyle/>
                    <a:p>
                      <a:pPr>
                        <a:buNone/>
                      </a:pPr>
                      <a:r>
                        <a:rPr lang="en-US"/>
                        <a:t>Mastery</a:t>
                      </a:r>
                    </a:p>
                  </a:txBody>
                  <a:tcPr anchor="ctr">
                    <a:lnL>
                      <a:noFill/>
                    </a:lnL>
                    <a:lnR>
                      <a:noFill/>
                    </a:lnR>
                    <a:lnT>
                      <a:noFill/>
                    </a:lnT>
                    <a:lnB>
                      <a:noFill/>
                    </a:lnB>
                    <a:noFill/>
                  </a:tcPr>
                </a:tc>
                <a:extLst>
                  <a:ext uri="{0D108BD9-81ED-4DB2-BD59-A6C34878D82A}">
                    <a16:rowId xmlns:a16="http://schemas.microsoft.com/office/drawing/2014/main" val="1452337528"/>
                  </a:ext>
                </a:extLst>
              </a:tr>
              <a:tr h="0">
                <a:tc>
                  <a:txBody>
                    <a:bodyPr/>
                    <a:lstStyle/>
                    <a:p>
                      <a:pPr>
                        <a:buNone/>
                      </a:pPr>
                      <a:r>
                        <a:rPr lang="en-US"/>
                        <a:t>-0.5</a:t>
                      </a:r>
                    </a:p>
                  </a:txBody>
                  <a:tcPr anchor="ctr">
                    <a:lnL>
                      <a:noFill/>
                    </a:lnL>
                    <a:lnR>
                      <a:noFill/>
                    </a:lnR>
                    <a:lnT>
                      <a:noFill/>
                    </a:lnT>
                    <a:lnB>
                      <a:noFill/>
                    </a:lnB>
                    <a:noFill/>
                  </a:tcPr>
                </a:tc>
                <a:tc>
                  <a:txBody>
                    <a:bodyPr/>
                    <a:lstStyle/>
                    <a:p>
                      <a:pPr>
                        <a:buNone/>
                      </a:pPr>
                      <a:r>
                        <a:rPr lang="en-US"/>
                        <a:t>~32.5</a:t>
                      </a:r>
                    </a:p>
                  </a:txBody>
                  <a:tcPr anchor="ctr">
                    <a:lnL>
                      <a:noFill/>
                    </a:lnL>
                    <a:lnR>
                      <a:noFill/>
                    </a:lnR>
                    <a:lnT>
                      <a:noFill/>
                    </a:lnT>
                    <a:lnB>
                      <a:noFill/>
                    </a:lnB>
                    <a:noFill/>
                  </a:tcPr>
                </a:tc>
                <a:extLst>
                  <a:ext uri="{0D108BD9-81ED-4DB2-BD59-A6C34878D82A}">
                    <a16:rowId xmlns:a16="http://schemas.microsoft.com/office/drawing/2014/main" val="1223203458"/>
                  </a:ext>
                </a:extLst>
              </a:tr>
              <a:tr h="0">
                <a:tc>
                  <a:txBody>
                    <a:bodyPr/>
                    <a:lstStyle/>
                    <a:p>
                      <a:pPr>
                        <a:buNone/>
                      </a:pPr>
                      <a:r>
                        <a:rPr lang="en-US"/>
                        <a:t>-1.0</a:t>
                      </a:r>
                    </a:p>
                  </a:txBody>
                  <a:tcPr anchor="ctr">
                    <a:lnL>
                      <a:noFill/>
                    </a:lnL>
                    <a:lnR>
                      <a:noFill/>
                    </a:lnR>
                    <a:lnT>
                      <a:noFill/>
                    </a:lnT>
                    <a:lnB>
                      <a:noFill/>
                    </a:lnB>
                    <a:noFill/>
                  </a:tcPr>
                </a:tc>
                <a:tc>
                  <a:txBody>
                    <a:bodyPr/>
                    <a:lstStyle/>
                    <a:p>
                      <a:pPr>
                        <a:buNone/>
                      </a:pPr>
                      <a:r>
                        <a:rPr lang="en-US"/>
                        <a:t>~37.8</a:t>
                      </a:r>
                    </a:p>
                  </a:txBody>
                  <a:tcPr anchor="ctr">
                    <a:lnL>
                      <a:noFill/>
                    </a:lnL>
                    <a:lnR>
                      <a:noFill/>
                    </a:lnR>
                    <a:lnT>
                      <a:noFill/>
                    </a:lnT>
                    <a:lnB>
                      <a:noFill/>
                    </a:lnB>
                    <a:noFill/>
                  </a:tcPr>
                </a:tc>
                <a:extLst>
                  <a:ext uri="{0D108BD9-81ED-4DB2-BD59-A6C34878D82A}">
                    <a16:rowId xmlns:a16="http://schemas.microsoft.com/office/drawing/2014/main" val="2268186242"/>
                  </a:ext>
                </a:extLst>
              </a:tr>
              <a:tr h="0">
                <a:tc>
                  <a:txBody>
                    <a:bodyPr/>
                    <a:lstStyle/>
                    <a:p>
                      <a:pPr>
                        <a:buNone/>
                      </a:pPr>
                      <a:r>
                        <a:rPr lang="en-US"/>
                        <a:t>-1.5</a:t>
                      </a:r>
                    </a:p>
                  </a:txBody>
                  <a:tcPr anchor="ctr">
                    <a:lnL>
                      <a:noFill/>
                    </a:lnL>
                    <a:lnR>
                      <a:noFill/>
                    </a:lnR>
                    <a:lnT>
                      <a:noFill/>
                    </a:lnT>
                    <a:lnB>
                      <a:noFill/>
                    </a:lnB>
                    <a:noFill/>
                  </a:tcPr>
                </a:tc>
                <a:tc>
                  <a:txBody>
                    <a:bodyPr/>
                    <a:lstStyle/>
                    <a:p>
                      <a:pPr>
                        <a:buNone/>
                      </a:pPr>
                      <a:r>
                        <a:rPr lang="en-US" dirty="0"/>
                        <a:t>~40.5</a:t>
                      </a:r>
                    </a:p>
                  </a:txBody>
                  <a:tcPr anchor="ctr">
                    <a:lnL>
                      <a:noFill/>
                    </a:lnL>
                    <a:lnR>
                      <a:noFill/>
                    </a:lnR>
                    <a:lnT>
                      <a:noFill/>
                    </a:lnT>
                    <a:lnB>
                      <a:noFill/>
                    </a:lnB>
                    <a:noFill/>
                  </a:tcPr>
                </a:tc>
                <a:extLst>
                  <a:ext uri="{0D108BD9-81ED-4DB2-BD59-A6C34878D82A}">
                    <a16:rowId xmlns:a16="http://schemas.microsoft.com/office/drawing/2014/main" val="4255135849"/>
                  </a:ext>
                </a:extLst>
              </a:tr>
            </a:tbl>
          </a:graphicData>
        </a:graphic>
      </p:graphicFrame>
      <p:sp>
        <p:nvSpPr>
          <p:cNvPr id="13" name="TextBox 12">
            <a:extLst>
              <a:ext uri="{FF2B5EF4-FFF2-40B4-BE49-F238E27FC236}">
                <a16:creationId xmlns:a16="http://schemas.microsoft.com/office/drawing/2014/main" id="{1CE1670C-878B-B42A-9308-3F21A187DCF5}"/>
              </a:ext>
            </a:extLst>
          </p:cNvPr>
          <p:cNvSpPr txBox="1"/>
          <p:nvPr/>
        </p:nvSpPr>
        <p:spPr>
          <a:xfrm>
            <a:off x="7363206" y="576072"/>
            <a:ext cx="6094476" cy="646331"/>
          </a:xfrm>
          <a:prstGeom prst="rect">
            <a:avLst/>
          </a:prstGeom>
          <a:noFill/>
        </p:spPr>
        <p:txBody>
          <a:bodyPr wrap="square">
            <a:spAutoFit/>
          </a:bodyPr>
          <a:lstStyle/>
          <a:p>
            <a:r>
              <a:rPr lang="en-US" sz="1800" dirty="0"/>
              <a:t>Horizon:1500</a:t>
            </a:r>
            <a:br>
              <a:rPr lang="en-US" sz="1800" dirty="0"/>
            </a:br>
            <a:r>
              <a:rPr lang="en-US" sz="1800" dirty="0"/>
              <a:t>items:200</a:t>
            </a:r>
            <a:endParaRPr lang="en-US" dirty="0"/>
          </a:p>
        </p:txBody>
      </p:sp>
    </p:spTree>
    <p:extLst>
      <p:ext uri="{BB962C8B-B14F-4D97-AF65-F5344CB8AC3E}">
        <p14:creationId xmlns:p14="http://schemas.microsoft.com/office/powerpoint/2010/main" val="4186050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41032B-5ACE-CCA1-6C66-51445BBE6962}"/>
              </a:ext>
            </a:extLst>
          </p:cNvPr>
          <p:cNvSpPr txBox="1"/>
          <p:nvPr/>
        </p:nvSpPr>
        <p:spPr>
          <a:xfrm>
            <a:off x="541782" y="287679"/>
            <a:ext cx="6094476" cy="4093428"/>
          </a:xfrm>
          <a:prstGeom prst="rect">
            <a:avLst/>
          </a:prstGeom>
          <a:noFill/>
        </p:spPr>
        <p:txBody>
          <a:bodyPr wrap="square">
            <a:spAutoFit/>
          </a:bodyPr>
          <a:lstStyle/>
          <a:p>
            <a:pPr>
              <a:buNone/>
            </a:pPr>
            <a:r>
              <a:rPr lang="en-US" b="1" dirty="0"/>
              <a:t>Observations</a:t>
            </a:r>
          </a:p>
          <a:p>
            <a:pPr>
              <a:buNone/>
            </a:pPr>
            <a:endParaRPr lang="en-US" b="1" dirty="0"/>
          </a:p>
          <a:p>
            <a:pPr>
              <a:buNone/>
            </a:pPr>
            <a:r>
              <a:rPr lang="en-US" sz="1400" b="1" dirty="0"/>
              <a:t>Mild Penalty (-0.5)</a:t>
            </a:r>
          </a:p>
          <a:p>
            <a:pPr>
              <a:buFont typeface="Arial" panose="020B0604020202020204" pitchFamily="34" charset="0"/>
              <a:buChar char="•"/>
            </a:pPr>
            <a:r>
              <a:rPr lang="en-US" sz="1400" dirty="0"/>
              <a:t>Slightly better performance for Group 0.</a:t>
            </a:r>
          </a:p>
          <a:p>
            <a:pPr>
              <a:buFont typeface="Arial" panose="020B0604020202020204" pitchFamily="34" charset="0"/>
              <a:buChar char="•"/>
            </a:pPr>
            <a:r>
              <a:rPr lang="en-US" sz="1400" dirty="0"/>
              <a:t>Slightly weaker for Group 1.</a:t>
            </a:r>
          </a:p>
          <a:p>
            <a:pPr>
              <a:buFont typeface="Arial" panose="020B0604020202020204" pitchFamily="34" charset="0"/>
              <a:buChar char="•"/>
            </a:pPr>
            <a:r>
              <a:rPr lang="en-US" sz="1400" dirty="0"/>
              <a:t>Balanced behavior.</a:t>
            </a:r>
          </a:p>
          <a:p>
            <a:pPr>
              <a:buNone/>
            </a:pPr>
            <a:br>
              <a:rPr lang="en-US" sz="1400" dirty="0"/>
            </a:br>
            <a:endParaRPr lang="en-US" sz="1400" dirty="0"/>
          </a:p>
          <a:p>
            <a:pPr>
              <a:buNone/>
            </a:pPr>
            <a:r>
              <a:rPr lang="en-US" sz="1400" b="1" dirty="0"/>
              <a:t>Medium Penalty (-1.0)</a:t>
            </a:r>
          </a:p>
          <a:p>
            <a:pPr>
              <a:buFont typeface="Arial" panose="020B0604020202020204" pitchFamily="34" charset="0"/>
              <a:buChar char="•"/>
            </a:pPr>
            <a:r>
              <a:rPr lang="en-US" sz="1400" dirty="0"/>
              <a:t>More balanced across both groups.</a:t>
            </a:r>
          </a:p>
          <a:p>
            <a:pPr>
              <a:buFont typeface="Arial" panose="020B0604020202020204" pitchFamily="34" charset="0"/>
              <a:buChar char="•"/>
            </a:pPr>
            <a:r>
              <a:rPr lang="en-US" sz="1400" dirty="0"/>
              <a:t>Slight improvement in Group 1.</a:t>
            </a:r>
          </a:p>
          <a:p>
            <a:pPr>
              <a:buFont typeface="Arial" panose="020B0604020202020204" pitchFamily="34" charset="0"/>
              <a:buChar char="•"/>
            </a:pPr>
            <a:r>
              <a:rPr lang="en-US" sz="1400" dirty="0"/>
              <a:t>Good compromise.</a:t>
            </a:r>
          </a:p>
          <a:p>
            <a:pPr>
              <a:buNone/>
            </a:pPr>
            <a:br>
              <a:rPr lang="en-US" sz="1400" dirty="0"/>
            </a:br>
            <a:endParaRPr lang="en-US" sz="1400" dirty="0"/>
          </a:p>
          <a:p>
            <a:pPr>
              <a:buNone/>
            </a:pPr>
            <a:r>
              <a:rPr lang="en-US" sz="1400" b="1" dirty="0"/>
              <a:t>Strong Penalty (-1.5)</a:t>
            </a:r>
          </a:p>
          <a:p>
            <a:pPr>
              <a:buFont typeface="Arial" panose="020B0604020202020204" pitchFamily="34" charset="0"/>
              <a:buChar char="•"/>
            </a:pPr>
            <a:r>
              <a:rPr lang="en-US" sz="1400" dirty="0"/>
              <a:t>Group 1 mastery improves the most.</a:t>
            </a:r>
          </a:p>
          <a:p>
            <a:pPr>
              <a:buFont typeface="Arial" panose="020B0604020202020204" pitchFamily="34" charset="0"/>
              <a:buChar char="•"/>
            </a:pPr>
            <a:r>
              <a:rPr lang="en-US" sz="1400" dirty="0"/>
              <a:t>Model becomes slightly more cautious.</a:t>
            </a:r>
          </a:p>
          <a:p>
            <a:pPr>
              <a:buFont typeface="Arial" panose="020B0604020202020204" pitchFamily="34" charset="0"/>
              <a:buChar char="•"/>
            </a:pPr>
            <a:r>
              <a:rPr lang="en-US" sz="1400" dirty="0"/>
              <a:t>No instability observed.</a:t>
            </a:r>
          </a:p>
        </p:txBody>
      </p:sp>
      <p:sp>
        <p:nvSpPr>
          <p:cNvPr id="6" name="TextBox 5">
            <a:extLst>
              <a:ext uri="{FF2B5EF4-FFF2-40B4-BE49-F238E27FC236}">
                <a16:creationId xmlns:a16="http://schemas.microsoft.com/office/drawing/2014/main" id="{5E75E56D-15E3-184E-900B-060D5CEAD6B1}"/>
              </a:ext>
            </a:extLst>
          </p:cNvPr>
          <p:cNvSpPr txBox="1"/>
          <p:nvPr/>
        </p:nvSpPr>
        <p:spPr>
          <a:xfrm>
            <a:off x="614934" y="4664101"/>
            <a:ext cx="6094476" cy="144655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Inferences: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Changing penalty does not break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Stronger penalty makes the model more careful.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model gives slightly more attention to learners who struggle.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Differences are small , behavior is robust.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system is not overly sensitive to reward tuning.</a:t>
            </a:r>
          </a:p>
        </p:txBody>
      </p:sp>
    </p:spTree>
    <p:extLst>
      <p:ext uri="{BB962C8B-B14F-4D97-AF65-F5344CB8AC3E}">
        <p14:creationId xmlns:p14="http://schemas.microsoft.com/office/powerpoint/2010/main" val="2515602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7C0023-7BF2-80C5-1F87-9985A29417D9}"/>
              </a:ext>
            </a:extLst>
          </p:cNvPr>
          <p:cNvSpPr txBox="1"/>
          <p:nvPr/>
        </p:nvSpPr>
        <p:spPr>
          <a:xfrm>
            <a:off x="450342" y="455414"/>
            <a:ext cx="6094476" cy="369332"/>
          </a:xfrm>
          <a:prstGeom prst="rect">
            <a:avLst/>
          </a:prstGeom>
          <a:noFill/>
        </p:spPr>
        <p:txBody>
          <a:bodyPr wrap="square">
            <a:spAutoFit/>
          </a:bodyPr>
          <a:lstStyle/>
          <a:p>
            <a:r>
              <a:rPr lang="en-US" b="1" dirty="0"/>
              <a:t>Experiment 6 — Curriculum ON vs OFF</a:t>
            </a:r>
          </a:p>
        </p:txBody>
      </p:sp>
      <p:sp>
        <p:nvSpPr>
          <p:cNvPr id="5" name="TextBox 4">
            <a:extLst>
              <a:ext uri="{FF2B5EF4-FFF2-40B4-BE49-F238E27FC236}">
                <a16:creationId xmlns:a16="http://schemas.microsoft.com/office/drawing/2014/main" id="{2D57339F-A50F-5650-D323-57B6D8254B7A}"/>
              </a:ext>
            </a:extLst>
          </p:cNvPr>
          <p:cNvSpPr txBox="1"/>
          <p:nvPr/>
        </p:nvSpPr>
        <p:spPr>
          <a:xfrm>
            <a:off x="450342" y="920419"/>
            <a:ext cx="6094476" cy="646331"/>
          </a:xfrm>
          <a:prstGeom prst="rect">
            <a:avLst/>
          </a:prstGeom>
          <a:noFill/>
        </p:spPr>
        <p:txBody>
          <a:bodyPr wrap="square">
            <a:spAutoFit/>
          </a:bodyPr>
          <a:lstStyle/>
          <a:p>
            <a:pPr>
              <a:buNone/>
            </a:pPr>
            <a:r>
              <a:rPr lang="en-US" b="1" dirty="0"/>
              <a:t>Research Question</a:t>
            </a:r>
          </a:p>
          <a:p>
            <a:pPr>
              <a:buNone/>
            </a:pPr>
            <a:r>
              <a:rPr lang="en-US" dirty="0"/>
              <a:t>Does curriculum sampling improve PPO training?</a:t>
            </a:r>
          </a:p>
        </p:txBody>
      </p:sp>
      <p:sp>
        <p:nvSpPr>
          <p:cNvPr id="7" name="TextBox 6">
            <a:extLst>
              <a:ext uri="{FF2B5EF4-FFF2-40B4-BE49-F238E27FC236}">
                <a16:creationId xmlns:a16="http://schemas.microsoft.com/office/drawing/2014/main" id="{D2AEFB00-4310-1FB2-2789-CC3CD05CAA55}"/>
              </a:ext>
            </a:extLst>
          </p:cNvPr>
          <p:cNvSpPr txBox="1"/>
          <p:nvPr/>
        </p:nvSpPr>
        <p:spPr>
          <a:xfrm>
            <a:off x="450342" y="1662423"/>
            <a:ext cx="6094476" cy="4185761"/>
          </a:xfrm>
          <a:prstGeom prst="rect">
            <a:avLst/>
          </a:prstGeom>
          <a:noFill/>
        </p:spPr>
        <p:txBody>
          <a:bodyPr wrap="square">
            <a:spAutoFit/>
          </a:bodyPr>
          <a:lstStyle/>
          <a:p>
            <a:pPr>
              <a:buNone/>
            </a:pPr>
            <a:r>
              <a:rPr lang="en-US" sz="1400" b="1" dirty="0"/>
              <a:t>Results :</a:t>
            </a:r>
            <a:br>
              <a:rPr lang="en-US" sz="1400" b="1" dirty="0"/>
            </a:br>
            <a:br>
              <a:rPr lang="en-US" sz="1400" b="1" dirty="0"/>
            </a:br>
            <a:r>
              <a:rPr lang="en-US" sz="1400" b="1" dirty="0"/>
              <a:t>Eval Mean Reward</a:t>
            </a:r>
          </a:p>
          <a:p>
            <a:pPr>
              <a:buNone/>
            </a:pPr>
            <a:r>
              <a:rPr lang="en-US" sz="1400" dirty="0"/>
              <a:t>Both:</a:t>
            </a:r>
          </a:p>
          <a:p>
            <a:pPr>
              <a:buFont typeface="Arial" panose="020B0604020202020204" pitchFamily="34" charset="0"/>
              <a:buChar char="•"/>
            </a:pPr>
            <a:r>
              <a:rPr lang="en-US" sz="1400" dirty="0"/>
              <a:t>Curriculum OFF → ~ -146.18</a:t>
            </a:r>
          </a:p>
          <a:p>
            <a:pPr>
              <a:buFont typeface="Arial" panose="020B0604020202020204" pitchFamily="34" charset="0"/>
              <a:buChar char="•"/>
            </a:pPr>
            <a:r>
              <a:rPr lang="en-US" sz="1400" dirty="0"/>
              <a:t>Curriculum ON → ~ -146.18</a:t>
            </a:r>
          </a:p>
          <a:p>
            <a:pPr>
              <a:buNone/>
            </a:pPr>
            <a:r>
              <a:rPr lang="en-US" sz="1400" dirty="0"/>
              <a:t>Exactly the same.</a:t>
            </a:r>
            <a:br>
              <a:rPr lang="en-US" sz="1400" dirty="0"/>
            </a:br>
            <a:endParaRPr lang="en-US" sz="1400" dirty="0"/>
          </a:p>
          <a:p>
            <a:pPr>
              <a:buNone/>
            </a:pPr>
            <a:r>
              <a:rPr lang="en-US" sz="1400" b="1" dirty="0"/>
              <a:t> Group 0 Mastery</a:t>
            </a:r>
          </a:p>
          <a:p>
            <a:pPr>
              <a:buNone/>
            </a:pPr>
            <a:r>
              <a:rPr lang="en-US" sz="1400" dirty="0"/>
              <a:t>Both:</a:t>
            </a:r>
          </a:p>
          <a:p>
            <a:pPr>
              <a:buFont typeface="Arial" panose="020B0604020202020204" pitchFamily="34" charset="0"/>
              <a:buChar char="•"/>
            </a:pPr>
            <a:r>
              <a:rPr lang="en-US" sz="1400" dirty="0"/>
              <a:t>Smoothed ≈ 37.77</a:t>
            </a:r>
          </a:p>
          <a:p>
            <a:pPr>
              <a:buFont typeface="Arial" panose="020B0604020202020204" pitchFamily="34" charset="0"/>
              <a:buChar char="•"/>
            </a:pPr>
            <a:r>
              <a:rPr lang="en-US" sz="1400" dirty="0"/>
              <a:t>Final ≈ 50</a:t>
            </a:r>
          </a:p>
          <a:p>
            <a:pPr>
              <a:buNone/>
            </a:pPr>
            <a:r>
              <a:rPr lang="en-US" sz="1400" dirty="0"/>
              <a:t>No difference.</a:t>
            </a:r>
          </a:p>
          <a:p>
            <a:pPr>
              <a:buNone/>
            </a:pPr>
            <a:endParaRPr lang="en-US" sz="1400" dirty="0"/>
          </a:p>
          <a:p>
            <a:pPr>
              <a:buNone/>
            </a:pPr>
            <a:r>
              <a:rPr lang="en-US" sz="1400" b="1" dirty="0"/>
              <a:t>Group 1 Mastery</a:t>
            </a:r>
          </a:p>
          <a:p>
            <a:pPr>
              <a:buNone/>
            </a:pPr>
            <a:r>
              <a:rPr lang="en-US" sz="1400" dirty="0"/>
              <a:t>Both:</a:t>
            </a:r>
          </a:p>
          <a:p>
            <a:pPr>
              <a:buFont typeface="Arial" panose="020B0604020202020204" pitchFamily="34" charset="0"/>
              <a:buChar char="•"/>
            </a:pPr>
            <a:r>
              <a:rPr lang="en-US" sz="1400" dirty="0"/>
              <a:t>Smoothed ≈ 32.49</a:t>
            </a:r>
          </a:p>
          <a:p>
            <a:pPr>
              <a:buFont typeface="Arial" panose="020B0604020202020204" pitchFamily="34" charset="0"/>
              <a:buChar char="•"/>
            </a:pPr>
            <a:r>
              <a:rPr lang="en-US" sz="1400" dirty="0"/>
              <a:t>Final ≈ 39</a:t>
            </a:r>
          </a:p>
          <a:p>
            <a:pPr>
              <a:buNone/>
            </a:pPr>
            <a:r>
              <a:rPr lang="en-US" sz="1400" dirty="0"/>
              <a:t>No difference.</a:t>
            </a:r>
          </a:p>
        </p:txBody>
      </p:sp>
    </p:spTree>
    <p:extLst>
      <p:ext uri="{BB962C8B-B14F-4D97-AF65-F5344CB8AC3E}">
        <p14:creationId xmlns:p14="http://schemas.microsoft.com/office/powerpoint/2010/main" val="334861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2CB6AB-4E7D-010F-2927-C18B48B1D336}"/>
              </a:ext>
            </a:extLst>
          </p:cNvPr>
          <p:cNvSpPr txBox="1"/>
          <p:nvPr/>
        </p:nvSpPr>
        <p:spPr>
          <a:xfrm>
            <a:off x="514350" y="338662"/>
            <a:ext cx="6094476" cy="369332"/>
          </a:xfrm>
          <a:prstGeom prst="rect">
            <a:avLst/>
          </a:prstGeom>
          <a:noFill/>
        </p:spPr>
        <p:txBody>
          <a:bodyPr wrap="square">
            <a:spAutoFit/>
          </a:bodyPr>
          <a:lstStyle/>
          <a:p>
            <a:r>
              <a:rPr lang="en-US" b="1" dirty="0"/>
              <a:t>Observations</a:t>
            </a:r>
          </a:p>
        </p:txBody>
      </p:sp>
      <p:sp>
        <p:nvSpPr>
          <p:cNvPr id="6" name="TextBox 5">
            <a:extLst>
              <a:ext uri="{FF2B5EF4-FFF2-40B4-BE49-F238E27FC236}">
                <a16:creationId xmlns:a16="http://schemas.microsoft.com/office/drawing/2014/main" id="{6333A387-10F6-C325-D7CC-FEFB5F25CB35}"/>
              </a:ext>
            </a:extLst>
          </p:cNvPr>
          <p:cNvSpPr txBox="1"/>
          <p:nvPr/>
        </p:nvSpPr>
        <p:spPr>
          <a:xfrm>
            <a:off x="587502" y="876258"/>
            <a:ext cx="6094476" cy="9541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Training curves overlap almost perfectly.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Mastery values are identical.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Reward curves are identical.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Convergence speed is identical.</a:t>
            </a:r>
          </a:p>
        </p:txBody>
      </p:sp>
      <p:sp>
        <p:nvSpPr>
          <p:cNvPr id="9" name="TextBox 8">
            <a:extLst>
              <a:ext uri="{FF2B5EF4-FFF2-40B4-BE49-F238E27FC236}">
                <a16:creationId xmlns:a16="http://schemas.microsoft.com/office/drawing/2014/main" id="{F3A5E22D-CC77-E393-209E-B25F601D9A38}"/>
              </a:ext>
            </a:extLst>
          </p:cNvPr>
          <p:cNvSpPr txBox="1"/>
          <p:nvPr/>
        </p:nvSpPr>
        <p:spPr>
          <a:xfrm>
            <a:off x="587502" y="2705946"/>
            <a:ext cx="6094476" cy="172354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Inference: </a:t>
            </a:r>
            <a:br>
              <a:rPr lang="en-US" altLang="en-US" dirty="0">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task is not too difficult for PPO.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model already handles the full difficulty from the start.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Curriculum does not provide extra benefit 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PPO is stable enough without gradual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The environment may not be complex enough to require curriculum.</a:t>
            </a:r>
          </a:p>
        </p:txBody>
      </p:sp>
      <p:sp>
        <p:nvSpPr>
          <p:cNvPr id="11" name="TextBox 10">
            <a:extLst>
              <a:ext uri="{FF2B5EF4-FFF2-40B4-BE49-F238E27FC236}">
                <a16:creationId xmlns:a16="http://schemas.microsoft.com/office/drawing/2014/main" id="{C58B6C98-27D1-8744-2970-12F3355BA539}"/>
              </a:ext>
            </a:extLst>
          </p:cNvPr>
          <p:cNvSpPr txBox="1"/>
          <p:nvPr/>
        </p:nvSpPr>
        <p:spPr>
          <a:xfrm>
            <a:off x="688086" y="4766024"/>
            <a:ext cx="9946386" cy="738664"/>
          </a:xfrm>
          <a:prstGeom prst="rect">
            <a:avLst/>
          </a:prstGeom>
          <a:noFill/>
        </p:spPr>
        <p:txBody>
          <a:bodyPr wrap="square">
            <a:spAutoFit/>
          </a:bodyPr>
          <a:lstStyle/>
          <a:p>
            <a:r>
              <a:rPr lang="en-US" sz="1400" b="1" dirty="0"/>
              <a:t>We hypothesized that curriculum would stabilize training. However, empirical results show that hierarchical PPO already handles the full task complexity effectively. Therefore, curriculum did not provide measurable improvements, indicating robustness of the base model</a:t>
            </a:r>
          </a:p>
        </p:txBody>
      </p:sp>
    </p:spTree>
    <p:extLst>
      <p:ext uri="{BB962C8B-B14F-4D97-AF65-F5344CB8AC3E}">
        <p14:creationId xmlns:p14="http://schemas.microsoft.com/office/powerpoint/2010/main" val="2324658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1281</Words>
  <Application>Microsoft Office PowerPoint</Application>
  <PresentationFormat>Widescreen</PresentationFormat>
  <Paragraphs>290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Hierarchical Learner Model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Soumabrata Mukherjee</dc:creator>
  <cp:lastModifiedBy>Soumabrata Mukherjee</cp:lastModifiedBy>
  <cp:revision>1</cp:revision>
  <dcterms:created xsi:type="dcterms:W3CDTF">2026-02-15T15:32:15Z</dcterms:created>
  <dcterms:modified xsi:type="dcterms:W3CDTF">2026-02-15T15:33:07Z</dcterms:modified>
</cp:coreProperties>
</file>