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BB426A-D2B1-5CF4-D2B9-B993597E43C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F052EFE-2CD8-4C13-87FE-DF2F813D23F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D84BA7F-4874-F190-E0F9-0D5966FF26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C2934D-C306-49A4-B670-DF2B53FE6E4E}" type="datetimeFigureOut">
              <a:rPr lang="en-US" smtClean="0"/>
              <a:t>9/23/2025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EC1AFE-4831-75BD-0848-F2C88D6183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624148-AC74-B342-8E04-38814135FE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39A0C1-8974-4342-B7DA-2ABEA4BC65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80081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FEF251-5202-220E-721B-480AE9A8BA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AF15FF-C012-BBC9-DD17-BBA6011C95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F8E4330-5FD6-77D9-1E22-FD7D001AE5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C2934D-C306-49A4-B670-DF2B53FE6E4E}" type="datetimeFigureOut">
              <a:rPr lang="en-US" smtClean="0"/>
              <a:t>9/23/2025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9A3F5A-5D53-52A1-F4E9-CF48750C45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3867C3F-838F-23B7-C527-89E2711447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39A0C1-8974-4342-B7DA-2ABEA4BC65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923588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601B86-799F-81DA-5E4A-E2D7C8F474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9A68206-0E41-C91F-20D9-19DF35C42D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DEA839-98B3-2AE3-FA89-4B47CAB70B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C2934D-C306-49A4-B670-DF2B53FE6E4E}" type="datetimeFigureOut">
              <a:rPr lang="en-US" smtClean="0"/>
              <a:t>9/23/2025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DC4ECE-3C86-FCB6-9089-16F205BB73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37E63A-1936-0749-01DE-6873C6262F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39A0C1-8974-4342-B7DA-2ABEA4BC65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67145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81EAEB-A31C-E510-1F2D-480F5F0690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ACFC40-ED4A-D3BC-E37B-E9131C955A1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DFFE1FB-900B-4AE5-7012-91B07C7B1B7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02559E1-D803-F0E3-C5DC-07364C3893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C2934D-C306-49A4-B670-DF2B53FE6E4E}" type="datetimeFigureOut">
              <a:rPr lang="en-US" smtClean="0"/>
              <a:t>9/23/2025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83B2E0B-8101-FAED-C47C-555814A134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2346F06-701D-EE0D-B4BB-167CF547D1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39A0C1-8974-4342-B7DA-2ABEA4BC65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87237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0F9179-790F-0634-260D-BF00329AB6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253ED26-76F0-8E44-5C80-67DAC32FE42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8CBB984-0EF9-99FB-B9EB-62A67B93E14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062A268-797C-BD5B-B484-362855AD73B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24100D5-F882-E357-18DE-57E0F1B13C0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9677122-AE26-83ED-7D71-10766D68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C2934D-C306-49A4-B670-DF2B53FE6E4E}" type="datetimeFigureOut">
              <a:rPr lang="en-US" smtClean="0"/>
              <a:t>9/23/2025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58E7C2E-BD8B-15AC-94C7-4E965B17CA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BB71598-EC6B-6255-6CFC-E159A8CF7D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39A0C1-8974-4342-B7DA-2ABEA4BC65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030153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C4C6C8-3194-E554-6D72-8F851EEF22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ED67FE6-B44E-6C00-50D6-A5147F9033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C2934D-C306-49A4-B670-DF2B53FE6E4E}" type="datetimeFigureOut">
              <a:rPr lang="en-US" smtClean="0"/>
              <a:t>9/23/2025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AF87F2F-7953-D67F-61BC-8DB4E90A7D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9E71E68-AC22-F11C-529B-90F5D4658B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39A0C1-8974-4342-B7DA-2ABEA4BC65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27868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C280312-B386-4780-D709-B718C29CAE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C2934D-C306-49A4-B670-DF2B53FE6E4E}" type="datetimeFigureOut">
              <a:rPr lang="en-US" smtClean="0"/>
              <a:t>9/23/2025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0219B68-E407-DD40-BD5C-437E472BD7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D007F0-3E1D-C218-CF9C-5772D7C793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39A0C1-8974-4342-B7DA-2ABEA4BC65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87577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5FDF7E-3FBF-7AC1-EFE2-79F3BE0180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7E8096-EB90-96F2-8533-DAA521C3DE0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BDEDA23-791E-C642-67E4-53E36C9B84F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DDE3069-886F-FED6-036B-31C563FCAD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C2934D-C306-49A4-B670-DF2B53FE6E4E}" type="datetimeFigureOut">
              <a:rPr lang="en-US" smtClean="0"/>
              <a:t>9/23/2025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208CE18-689C-CD2F-EACD-0CB7DCB765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5A4C1B3-A6AC-D4BC-B165-3661329B44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39A0C1-8974-4342-B7DA-2ABEA4BC65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59163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44AECD-73E1-55FC-F250-6CDDC1B261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D54B3A9-8101-0793-A1C0-8360A7327F1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804E959-24E8-6224-2EC4-E27DC4C58FF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1B5F320-79DE-8974-33E4-D19C0F93DC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C2934D-C306-49A4-B670-DF2B53FE6E4E}" type="datetimeFigureOut">
              <a:rPr lang="en-US" smtClean="0"/>
              <a:t>9/23/2025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9AEECEF-CF80-52FA-91B7-1014BA5325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24E2B18-225A-A3AC-03D0-DB582D7B0D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39A0C1-8974-4342-B7DA-2ABEA4BC65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6687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CFB9DC-E9C9-593B-FA9F-6C35B31BC7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DFF501D-ADEF-026D-BAE0-15A4D091605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3C5F7F8-7678-E177-98F2-104450C312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C2934D-C306-49A4-B670-DF2B53FE6E4E}" type="datetimeFigureOut">
              <a:rPr lang="en-US" smtClean="0"/>
              <a:t>9/23/2025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FC0AED-E4A1-F0FF-75E2-99504EF5F2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808EAC-1CFD-6801-F601-C61534A189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39A0C1-8974-4342-B7DA-2ABEA4BC65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03361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C0A717E-10A8-D4CA-1AE7-79A2FFD5D7F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BEB7140-E64E-5C31-3112-6D9300DE179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252694-A630-FFF8-2846-6DD67C6286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C2934D-C306-49A4-B670-DF2B53FE6E4E}" type="datetimeFigureOut">
              <a:rPr lang="en-US" smtClean="0"/>
              <a:t>9/23/2025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59B2E68-5A39-1A1C-BA92-64C1C651FE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859707-BF97-66FC-6DE6-56062A5296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39A0C1-8974-4342-B7DA-2ABEA4BC65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86959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AEB5623-176D-FEC3-3B17-A0C6659610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33DDBEF-0BD8-4C10-7856-0ECBD2D9126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9757D2F-9E16-5297-03A0-33AAAA99525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FC2934D-C306-49A4-B670-DF2B53FE6E4E}" type="datetimeFigureOut">
              <a:rPr lang="en-US" smtClean="0"/>
              <a:t>9/23/2025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EDDD99-029A-E637-778E-A8E8DAB493F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641329F-9922-F23A-CEA9-BF99A9D54A4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039A0C1-8974-4342-B7DA-2ABEA4BC65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11532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CDD2E93-FAB7-FA59-C5FD-6EC869B425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From One Learner to a Classroom</a:t>
            </a:r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08012D28-A9A7-C493-4D22-EF6E51725416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Started simple: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single learner tutor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→ agent picks items, learner answers, reward based on memory.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Extended to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multi-learner tutor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 now one agent manages a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whole classroom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Each learner is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different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α (alpha):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how fast they forget.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β (beta):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how much they gain from each review.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This creates a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heterogeneous group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 fast learners, slow learners, forgetful learners… just like a real class.</a:t>
            </a:r>
          </a:p>
        </p:txBody>
      </p:sp>
    </p:spTree>
    <p:extLst>
      <p:ext uri="{BB962C8B-B14F-4D97-AF65-F5344CB8AC3E}">
        <p14:creationId xmlns:p14="http://schemas.microsoft.com/office/powerpoint/2010/main" val="300407321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617588-DAD9-3815-07A2-F6FAE5CFE1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Multi-Learner Environment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BE00C620-645C-26B9-5A37-83ACE27B6A93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755904" y="1578795"/>
            <a:ext cx="8423203" cy="175432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Gym environment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Action space: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agent must pick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one (learner, item)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pair out of </a:t>
            </a:r>
            <a:r>
              <a:rPr kumimoji="0" lang="en-US" altLang="en-US" sz="18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 × I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possibilities.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Action masks: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mastered items are hidden from choices.</a:t>
            </a:r>
            <a:b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b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Rectangle 7">
                <a:extLst>
                  <a:ext uri="{FF2B5EF4-FFF2-40B4-BE49-F238E27FC236}">
                    <a16:creationId xmlns:a16="http://schemas.microsoft.com/office/drawing/2014/main" id="{267793D0-1924-2310-D0F5-0BD246232D3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55904" y="3834224"/>
                <a:ext cx="9487149" cy="2554545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vert="horz" wrap="none" lIns="91440" tIns="45720" rIns="91440" bIns="45720" numCol="1" anchor="ctr" anchorCtr="0" compatLnSpc="1">
                <a:prstTxWarp prst="textNoShape">
                  <a:avLst/>
                </a:prstTxWarp>
                <a:spAutoFit/>
              </a:bodyPr>
              <a:lstStyle/>
              <a:p>
                <a:pPr lvl="0" eaLnBrk="0" fontAlgn="base" hangingPunct="0">
                  <a:spcBef>
                    <a:spcPct val="0"/>
                  </a:spcBef>
                  <a:spcAft>
                    <a:spcPct val="0"/>
                  </a:spcAft>
                  <a:buFontTx/>
                  <a:buChar char="•"/>
                </a:pPr>
                <a:r>
                  <a:rPr kumimoji="0" lang="en-US" altLang="en-US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 Unicode MS"/>
                  </a:rPr>
                  <a:t>α =</a:t>
                </a:r>
                <a:r>
                  <a:rPr lang="en-US" dirty="0"/>
                  <a:t>4.0e-6 + l * 5e-7 where l is the number of learners.(From paper range of alpha, [2×10−7,0.025].</a:t>
                </a:r>
              </a:p>
              <a:p>
                <a:pPr lvl="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b="1" dirty="0"/>
                  <a:t>So, if l = 0: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/>
                      <m:t>4.0</m:t>
                    </m:r>
                    <m:r>
                      <a:rPr lang="en-US" i="1"/>
                      <m:t>𝑒</m:t>
                    </m:r>
                    <m:r>
                      <a:rPr lang="en-US"/>
                      <m:t>−6+0=4.0</m:t>
                    </m:r>
                    <m:r>
                      <a:rPr lang="en-US" i="1"/>
                      <m:t>𝑒</m:t>
                    </m:r>
                    <m:r>
                      <a:rPr lang="en-US"/>
                      <m:t>−6</m:t>
                    </m:r>
                  </m:oMath>
                </a14:m>
                <a:r>
                  <a:rPr lang="en-US" dirty="0"/>
                  <a:t>,</a:t>
                </a:r>
              </a:p>
              <a:p>
                <a:pPr lvl="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b="1" dirty="0"/>
                  <a:t>  l = 1: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/>
                      <m:t>4.0</m:t>
                    </m:r>
                    <m:r>
                      <a:rPr lang="en-US" i="1"/>
                      <m:t>𝑒</m:t>
                    </m:r>
                    <m:r>
                      <a:rPr lang="en-US"/>
                      <m:t>−6+0.5</m:t>
                    </m:r>
                    <m:r>
                      <a:rPr lang="en-US" i="1"/>
                      <m:t>𝑒</m:t>
                    </m:r>
                    <m:r>
                      <a:rPr lang="en-US"/>
                      <m:t>−6=4.5</m:t>
                    </m:r>
                    <m:r>
                      <a:rPr lang="en-US" i="1"/>
                      <m:t>𝑒</m:t>
                    </m:r>
                    <m:r>
                      <a:rPr lang="en-US"/>
                      <m:t>−6</m:t>
                    </m:r>
                  </m:oMath>
                </a14:m>
                <a:r>
                  <a:rPr lang="en-US" dirty="0"/>
                  <a:t> and so on.</a:t>
                </a:r>
              </a:p>
              <a:p>
                <a:pPr lvl="0" eaLnBrk="0" fontAlgn="base" hangingPunct="0">
                  <a:spcBef>
                    <a:spcPct val="0"/>
                  </a:spcBef>
                  <a:spcAft>
                    <a:spcPct val="0"/>
                  </a:spcAft>
                  <a:buFontTx/>
                  <a:buChar char="•"/>
                </a:pPr>
                <a:r>
                  <a:rPr kumimoji="0" lang="en-US" altLang="en-US" sz="16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</a:rPr>
                  <a:t>β =0.5(fixed)</a:t>
                </a:r>
              </a:p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Char char="•"/>
                  <a:tabLst/>
                </a:pPr>
                <a:r>
                  <a:rPr kumimoji="0" lang="en-US" altLang="en-US" sz="1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panose="020B0604020202020204" pitchFamily="34" charset="0"/>
                  </a:rPr>
                  <a:t>Rolling accuracy + “mastery threshold” determine when an item is mastered.</a:t>
                </a:r>
              </a:p>
              <a:p>
                <a:pPr lvl="0" eaLnBrk="0" fontAlgn="base" hangingPunct="0">
                  <a:spcBef>
                    <a:spcPct val="0"/>
                  </a:spcBef>
                  <a:spcAft>
                    <a:spcPct val="0"/>
                  </a:spcAft>
                  <a:buFontTx/>
                  <a:buChar char="•"/>
                </a:pPr>
                <a:r>
                  <a:rPr lang="en-US" dirty="0"/>
                  <a:t>Rolling accuracy window = </a:t>
                </a:r>
                <a:r>
                  <a:rPr lang="en-US" b="1" dirty="0"/>
                  <a:t>50 steps</a:t>
                </a:r>
              </a:p>
              <a:p>
                <a:pPr lvl="0" eaLnBrk="0" fontAlgn="base" hangingPunct="0">
                  <a:spcBef>
                    <a:spcPct val="0"/>
                  </a:spcBef>
                  <a:spcAft>
                    <a:spcPct val="0"/>
                  </a:spcAft>
                  <a:buFontTx/>
                  <a:buChar char="•"/>
                </a:pPr>
                <a:r>
                  <a:rPr lang="en-US" dirty="0" err="1"/>
                  <a:t>mastery_window</a:t>
                </a:r>
                <a:r>
                  <a:rPr lang="en-US" dirty="0"/>
                  <a:t>=30</a:t>
                </a:r>
              </a:p>
              <a:p>
                <a:pPr lvl="0" eaLnBrk="0" fontAlgn="base" hangingPunct="0">
                  <a:spcBef>
                    <a:spcPct val="0"/>
                  </a:spcBef>
                  <a:spcAft>
                    <a:spcPct val="0"/>
                  </a:spcAft>
                  <a:buFontTx/>
                  <a:buChar char="•"/>
                </a:pPr>
                <a:r>
                  <a:rPr lang="en-US" dirty="0" err="1"/>
                  <a:t>mastery_threshold</a:t>
                </a:r>
                <a:r>
                  <a:rPr lang="en-US" dirty="0"/>
                  <a:t>=0.85</a:t>
                </a:r>
                <a:endParaRPr kumimoji="0" lang="en-US" altLang="en-US" sz="18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</a:endParaRPr>
              </a:p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Char char="•"/>
                  <a:tabLst/>
                </a:pPr>
                <a:r>
                  <a:rPr kumimoji="0" lang="en-US" altLang="en-US" sz="1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panose="020B0604020202020204" pitchFamily="34" charset="0"/>
                  </a:rPr>
                  <a:t>Result: </a:t>
                </a:r>
                <a:r>
                  <a:rPr kumimoji="0" lang="en-US" altLang="en-US" sz="1800" b="1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panose="020B0604020202020204" pitchFamily="34" charset="0"/>
                  </a:rPr>
                  <a:t>classroom diversity emerges naturally</a:t>
                </a:r>
                <a:r>
                  <a:rPr kumimoji="0" lang="en-US" altLang="en-US" sz="1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panose="020B0604020202020204" pitchFamily="34" charset="0"/>
                  </a:rPr>
                  <a:t>.</a:t>
                </a:r>
              </a:p>
            </p:txBody>
          </p:sp>
        </mc:Choice>
        <mc:Fallback>
          <p:sp>
            <p:nvSpPr>
              <p:cNvPr id="12" name="Rectangle 7">
                <a:extLst>
                  <a:ext uri="{FF2B5EF4-FFF2-40B4-BE49-F238E27FC236}">
                    <a16:creationId xmlns:a16="http://schemas.microsoft.com/office/drawing/2014/main" id="{267793D0-1924-2310-D0F5-0BD246232D3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55904" y="3834224"/>
                <a:ext cx="9487149" cy="2554545"/>
              </a:xfrm>
              <a:prstGeom prst="rect">
                <a:avLst/>
              </a:prstGeom>
              <a:blipFill>
                <a:blip r:embed="rId2"/>
                <a:stretch>
                  <a:fillRect l="-514" t="-955" b="-3341"/>
                </a:stretch>
              </a:blipFill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TextBox 13">
            <a:extLst>
              <a:ext uri="{FF2B5EF4-FFF2-40B4-BE49-F238E27FC236}">
                <a16:creationId xmlns:a16="http://schemas.microsoft.com/office/drawing/2014/main" id="{9149CD14-9DD9-F51F-4ECC-6A25BF1C4E3A}"/>
              </a:ext>
            </a:extLst>
          </p:cNvPr>
          <p:cNvSpPr txBox="1"/>
          <p:nvPr/>
        </p:nvSpPr>
        <p:spPr>
          <a:xfrm>
            <a:off x="756947" y="2962220"/>
            <a:ext cx="609447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dirty="0"/>
              <a:t>Memory Dynamics (α and β)</a:t>
            </a:r>
          </a:p>
        </p:txBody>
      </p:sp>
    </p:spTree>
    <p:extLst>
      <p:ext uri="{BB962C8B-B14F-4D97-AF65-F5344CB8AC3E}">
        <p14:creationId xmlns:p14="http://schemas.microsoft.com/office/powerpoint/2010/main" val="41731350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426481-4887-2344-47AE-91071FA782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Reward Function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1FA3314B-35D2-09FC-F4A9-4BD0348D596F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838200" y="2154637"/>
            <a:ext cx="10180320" cy="369331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Correct answer: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positive reward.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Incorrect answer: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penalty.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Invalid or repeat: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small penalty (teaching inefficiency).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correct=+1.0, incorrect=−0.5 and -1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Mastery bonus: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when an item crosses mastery threshold.</a:t>
            </a:r>
            <a:r>
              <a:rPr lang="en-US" sz="1800" dirty="0"/>
              <a:t> This encourages the agent to get learners past the finish line instead of hovering at medium recall.(+2.0)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sz="1800" b="1" dirty="0"/>
              <a:t>Invalid Action </a:t>
            </a:r>
            <a:r>
              <a:rPr lang="en-US" sz="1800" dirty="0"/>
              <a:t>(−0.10) -If the agent tries to practice an item that is already mastered, we give a small penalty. This prevents “wasting time” on items that don’t need practice.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sz="1800" b="1" dirty="0"/>
              <a:t>Step Cost </a:t>
            </a:r>
            <a:r>
              <a:rPr lang="en-US" sz="1800" dirty="0"/>
              <a:t>(−0.001 each step) -A tiny cost just for taking a step. This prevents the agent from dragging the episode without progress.</a:t>
            </a:r>
            <a:r>
              <a:rPr lang="en-US" altLang="en-US" sz="1800" dirty="0">
                <a:latin typeface="Arial" panose="020B0604020202020204" pitchFamily="34" charset="0"/>
              </a:rPr>
              <a:t>	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Fairness penalty: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lang="en-US" sz="1800" dirty="0"/>
              <a:t>penalty if one learner is doing great while another is forgotten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→ pushes the agent to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balance attention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  <a:r>
              <a:rPr lang="en-US" sz="1800" dirty="0"/>
              <a:t> (-0.5)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This reward shaping forces the agent to juggle </a:t>
            </a:r>
            <a:r>
              <a:rPr kumimoji="0" lang="en-US" altLang="en-US" sz="18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accuracy, spacing, and fairness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8291756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C7EE08-4A7C-D0BC-16C5-868BBF1CB2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PPO Training Setup</a:t>
            </a:r>
            <a:endParaRPr lang="en-US" dirty="0"/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A116879A-7DC3-9B73-C8BE-42ED91B64EEA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838200" y="1378736"/>
            <a:ext cx="10802112" cy="34163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Algorithm: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Stable-Baselines3 PPO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with custom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masked multi-head policy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Key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hyperparams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tuned: rollout length, learning rate, clip range, entropy coefficient.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TensorBoard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logging: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Rollout rewards-</a:t>
            </a:r>
            <a:r>
              <a:rPr lang="en-US" sz="1800" dirty="0"/>
              <a:t>the agent’s score during training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(noisy, on-policy).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Eval rewards-</a:t>
            </a:r>
            <a:r>
              <a:rPr lang="en-US" sz="1800" dirty="0"/>
              <a:t>the score when we test the agent deterministically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(deterministic, smoother).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FPS / timesteps for monitoring speed.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EvalCallback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runs evaluation every 2048 steps to track generalization.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Checkpoints: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best model and final model saved for later comparison.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lang="en-US" altLang="en-US" sz="18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masked multi-head policy</a:t>
            </a:r>
            <a:r>
              <a:rPr lang="en-US" altLang="en-US" sz="1800" dirty="0">
                <a:latin typeface="Arial" panose="020B0604020202020204" pitchFamily="34" charset="0"/>
              </a:rPr>
              <a:t>- T</a:t>
            </a:r>
            <a:r>
              <a:rPr lang="en-US" sz="1800" dirty="0"/>
              <a:t>he policy has </a:t>
            </a:r>
            <a:r>
              <a:rPr lang="en-US" sz="1800" b="1" dirty="0"/>
              <a:t>one output head per learner</a:t>
            </a:r>
            <a:r>
              <a:rPr lang="en-US" sz="1800" dirty="0"/>
              <a:t>. But not every flashcard is always allowed. The </a:t>
            </a:r>
            <a:r>
              <a:rPr lang="en-US" sz="1800" b="1" dirty="0"/>
              <a:t>mask</a:t>
            </a:r>
            <a:r>
              <a:rPr lang="en-US" sz="1800" dirty="0"/>
              <a:t> hides those invalid flashcards which have been mastered already by that learner.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8833820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</TotalTime>
  <Words>527</Words>
  <Application>Microsoft Office PowerPoint</Application>
  <PresentationFormat>Widescreen</PresentationFormat>
  <Paragraphs>42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Arial Unicode MS</vt:lpstr>
      <vt:lpstr>Calibri</vt:lpstr>
      <vt:lpstr>Calibri Light</vt:lpstr>
      <vt:lpstr>Office Theme</vt:lpstr>
      <vt:lpstr>From One Learner to a Classroom</vt:lpstr>
      <vt:lpstr>The Multi-Learner Environment</vt:lpstr>
      <vt:lpstr>Reward Function</vt:lpstr>
      <vt:lpstr>PPO Training Setup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Soumabrata Mukherjee</dc:creator>
  <cp:lastModifiedBy>Soumabrata Mukherjee</cp:lastModifiedBy>
  <cp:revision>3</cp:revision>
  <dcterms:created xsi:type="dcterms:W3CDTF">2025-09-14T19:58:45Z</dcterms:created>
  <dcterms:modified xsi:type="dcterms:W3CDTF">2025-09-22T19:37:32Z</dcterms:modified>
</cp:coreProperties>
</file>