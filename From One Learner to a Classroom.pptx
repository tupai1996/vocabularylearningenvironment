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B426A-D2B1-5CF4-D2B9-B993597E43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052EFE-2CD8-4C13-87FE-DF2F813D23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84BA7F-4874-F190-E0F9-0D5966FF2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2934D-C306-49A4-B670-DF2B53FE6E4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C1AFE-4831-75BD-0848-F2C88D618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24148-AC74-B342-8E04-38814135F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9A0C1-8974-4342-B7DA-2ABEA4BC6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008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EF251-5202-220E-721B-480AE9A8B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F15FF-C012-BBC9-DD17-BBA6011C9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E4330-5FD6-77D9-1E22-FD7D001AE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2934D-C306-49A4-B670-DF2B53FE6E4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A3F5A-5D53-52A1-F4E9-CF48750C4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67C3F-838F-23B7-C527-89E271144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9A0C1-8974-4342-B7DA-2ABEA4BC6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235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01B86-799F-81DA-5E4A-E2D7C8F47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A68206-0E41-C91F-20D9-19DF35C42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EA839-98B3-2AE3-FA89-4B47CAB70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2934D-C306-49A4-B670-DF2B53FE6E4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C4ECE-3C86-FCB6-9089-16F205BB7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7E63A-1936-0749-01DE-6873C6262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9A0C1-8974-4342-B7DA-2ABEA4BC6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714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1EAEB-A31C-E510-1F2D-480F5F069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CFC40-ED4A-D3BC-E37B-E9131C955A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FFE1FB-900B-4AE5-7012-91B07C7B1B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2559E1-D803-F0E3-C5DC-07364C389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2934D-C306-49A4-B670-DF2B53FE6E4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3B2E0B-8101-FAED-C47C-555814A13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346F06-701D-EE0D-B4BB-167CF547D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9A0C1-8974-4342-B7DA-2ABEA4BC6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723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F9179-790F-0634-260D-BF00329AB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3ED26-76F0-8E44-5C80-67DAC32FE4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CBB984-0EF9-99FB-B9EB-62A67B93E1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62A268-797C-BD5B-B484-362855AD73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4100D5-F882-E357-18DE-57E0F1B13C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677122-AE26-83ED-7D71-10766D68A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2934D-C306-49A4-B670-DF2B53FE6E4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8E7C2E-BD8B-15AC-94C7-4E965B17C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B71598-EC6B-6255-6CFC-E159A8CF7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9A0C1-8974-4342-B7DA-2ABEA4BC6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301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4C6C8-3194-E554-6D72-8F851EEF2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D67FE6-B44E-6C00-50D6-A5147F903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2934D-C306-49A4-B670-DF2B53FE6E4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F87F2F-7953-D67F-61BC-8DB4E90A7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E71E68-AC22-F11C-529B-90F5D4658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9A0C1-8974-4342-B7DA-2ABEA4BC6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86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280312-B386-4780-D709-B718C29CA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2934D-C306-49A4-B670-DF2B53FE6E4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219B68-E407-DD40-BD5C-437E472BD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007F0-3E1D-C218-CF9C-5772D7C79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9A0C1-8974-4342-B7DA-2ABEA4BC6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757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FDF7E-3FBF-7AC1-EFE2-79F3BE018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E8096-EB90-96F2-8533-DAA521C3D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DEDA23-791E-C642-67E4-53E36C9B84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DE3069-886F-FED6-036B-31C563FCA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2934D-C306-49A4-B670-DF2B53FE6E4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08CE18-689C-CD2F-EACD-0CB7DCB76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A4C1B3-A6AC-D4BC-B165-3661329B4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9A0C1-8974-4342-B7DA-2ABEA4BC6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91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4AECD-73E1-55FC-F250-6CDDC1B26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54B3A9-8101-0793-A1C0-8360A7327F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04E959-24E8-6224-2EC4-E27DC4C58F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B5F320-79DE-8974-33E4-D19C0F93D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2934D-C306-49A4-B670-DF2B53FE6E4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AEECEF-CF80-52FA-91B7-1014BA532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4E2B18-225A-A3AC-03D0-DB582D7B0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9A0C1-8974-4342-B7DA-2ABEA4BC6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68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FB9DC-E9C9-593B-FA9F-6C35B31BC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FF501D-ADEF-026D-BAE0-15A4D09160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5F7F8-7678-E177-98F2-104450C31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2934D-C306-49A4-B670-DF2B53FE6E4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C0AED-E4A1-F0FF-75E2-99504EF5F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08EAC-1CFD-6801-F601-C61534A18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9A0C1-8974-4342-B7DA-2ABEA4BC6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336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0A717E-10A8-D4CA-1AE7-79A2FFD5D7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EB7140-E64E-5C31-3112-6D9300DE17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52694-A630-FFF8-2846-6DD67C628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2934D-C306-49A4-B670-DF2B53FE6E4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B2E68-5A39-1A1C-BA92-64C1C651F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59707-BF97-66FC-6DE6-56062A529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9A0C1-8974-4342-B7DA-2ABEA4BC6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695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EB5623-176D-FEC3-3B17-A0C665961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3DDBEF-0BD8-4C10-7856-0ECBD2D91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7D2F-9E16-5297-03A0-33AAAA9952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2934D-C306-49A4-B670-DF2B53FE6E4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DDD99-029A-E637-778E-A8E8DAB493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1329F-9922-F23A-CEA9-BF99A9D54A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39A0C1-8974-4342-B7DA-2ABEA4BC6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153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CDD2E93-FAB7-FA59-C5FD-6EC869B42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+mn-lt"/>
              </a:rPr>
              <a:t>Hierarchical Learner Model Setup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8012D28-A9A7-C493-4D22-EF6E517254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2752" y="1781009"/>
            <a:ext cx="9329928" cy="20631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200" b="1" dirty="0"/>
              <a:t>Population Structure</a:t>
            </a:r>
          </a:p>
          <a:p>
            <a:r>
              <a:rPr lang="en-US" sz="1200" b="1" dirty="0"/>
              <a:t>Number of learners:</a:t>
            </a:r>
            <a:r>
              <a:rPr lang="en-US" sz="1200" dirty="0"/>
              <a:t> 8</a:t>
            </a:r>
          </a:p>
          <a:p>
            <a:r>
              <a:rPr lang="en-US" sz="1200" b="1" dirty="0"/>
              <a:t>Number of groups:</a:t>
            </a:r>
            <a:r>
              <a:rPr lang="en-US" sz="1200" dirty="0"/>
              <a:t> 2</a:t>
            </a:r>
          </a:p>
          <a:p>
            <a:pPr lvl="1"/>
            <a:r>
              <a:rPr lang="en-US" sz="1200" dirty="0"/>
              <a:t>Group 0 → slow forgetters</a:t>
            </a:r>
          </a:p>
          <a:p>
            <a:pPr lvl="1"/>
            <a:r>
              <a:rPr lang="en-US" sz="1200" dirty="0"/>
              <a:t>Group 1 → fast forgetters</a:t>
            </a:r>
          </a:p>
          <a:p>
            <a:r>
              <a:rPr lang="en-US" sz="1200" b="1" dirty="0"/>
              <a:t>Group assignment:</a:t>
            </a:r>
            <a:endParaRPr lang="en-US" sz="1200" dirty="0"/>
          </a:p>
          <a:p>
            <a:pPr lvl="1"/>
            <a:r>
              <a:rPr lang="en-US" sz="1200" dirty="0"/>
              <a:t>Even-indexed learners → Group 0</a:t>
            </a:r>
          </a:p>
          <a:p>
            <a:pPr lvl="1"/>
            <a:r>
              <a:rPr lang="en-US" sz="1200" dirty="0"/>
              <a:t>Odd-indexed learners → Group 1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66FE3C3-759F-32D9-83FF-EAFD38386A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853878"/>
              </p:ext>
            </p:extLst>
          </p:nvPr>
        </p:nvGraphicFramePr>
        <p:xfrm>
          <a:off x="929640" y="4391213"/>
          <a:ext cx="10515600" cy="16459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247942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7405277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956055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Parameter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Value 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5857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200" b="1"/>
                        <a:t>α (</a:t>
                      </a:r>
                      <a:r>
                        <a:rPr lang="en-US" sz="1200" b="1"/>
                        <a:t>alpha)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Forgetting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Group-level grid: </a:t>
                      </a:r>
                      <a:r>
                        <a:rPr lang="en-US" sz="1200" b="1" dirty="0"/>
                        <a:t>2e-6 → 6e-6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0404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Group 0: </a:t>
                      </a:r>
                      <a:r>
                        <a:rPr lang="en-US" sz="1200" b="1"/>
                        <a:t>α = 2e-6</a:t>
                      </a:r>
                      <a:r>
                        <a:rPr lang="en-US" sz="1200"/>
                        <a:t> (slow forgetting)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7749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Group 1: </a:t>
                      </a:r>
                      <a:r>
                        <a:rPr lang="el-GR" sz="1200" b="1"/>
                        <a:t>α = 6</a:t>
                      </a:r>
                      <a:r>
                        <a:rPr lang="en-US" sz="1200" b="1"/>
                        <a:t>e-6</a:t>
                      </a:r>
                      <a:r>
                        <a:rPr lang="en-US" sz="1200"/>
                        <a:t> (fast forgetting)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7942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Noise on </a:t>
                      </a:r>
                      <a:r>
                        <a:rPr lang="el-GR" sz="1200" b="1" dirty="0"/>
                        <a:t>α</a:t>
                      </a:r>
                      <a:endParaRPr lang="el-GR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Individual differences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± </a:t>
                      </a:r>
                      <a:r>
                        <a:rPr lang="en-US" sz="1200" b="1" dirty="0"/>
                        <a:t>12%</a:t>
                      </a:r>
                      <a:r>
                        <a:rPr lang="en-US" sz="1200" dirty="0"/>
                        <a:t>, clamped to [0.7, 1.3] multiplier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1660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200" b="1"/>
                        <a:t>β (</a:t>
                      </a:r>
                      <a:r>
                        <a:rPr lang="en-US" sz="1200" b="1"/>
                        <a:t>beta)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Learning reinforcement / strengthening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Fixed at 0.5</a:t>
                      </a:r>
                      <a:r>
                        <a:rPr lang="en-US" sz="1200" dirty="0"/>
                        <a:t> for all learners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6605004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880084C4-CA5E-5FD7-D16D-2E48D2066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640" y="3934459"/>
            <a:ext cx="281865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Memory Model Parameters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5379C2-E6AE-B095-C84F-3B4371EE60A6}"/>
              </a:ext>
            </a:extLst>
          </p:cNvPr>
          <p:cNvSpPr txBox="1"/>
          <p:nvPr/>
        </p:nvSpPr>
        <p:spPr>
          <a:xfrm>
            <a:off x="7006580" y="1158098"/>
            <a:ext cx="456971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Per-Learner Final </a:t>
            </a:r>
            <a:r>
              <a:rPr lang="el-GR" sz="1600" b="1" dirty="0"/>
              <a:t>α </a:t>
            </a:r>
            <a:r>
              <a:rPr lang="en-US" sz="1600" b="1" dirty="0"/>
              <a:t>Values</a:t>
            </a:r>
          </a:p>
          <a:p>
            <a:pPr>
              <a:buNone/>
            </a:pPr>
            <a:r>
              <a:rPr lang="en-US" sz="1600" dirty="0"/>
              <a:t>Each learner gets:</a:t>
            </a:r>
            <a:br>
              <a:rPr lang="en-US" sz="1600" dirty="0"/>
            </a:br>
            <a:r>
              <a:rPr lang="el-GR" sz="1600" b="1" dirty="0"/>
              <a:t>α</a:t>
            </a:r>
            <a:r>
              <a:rPr lang="en-US" sz="1600" b="1" dirty="0"/>
              <a:t>ₗ = </a:t>
            </a:r>
            <a:r>
              <a:rPr lang="el-GR" sz="1600" b="1" dirty="0"/>
              <a:t>α_</a:t>
            </a:r>
            <a:r>
              <a:rPr lang="en-US" sz="1600" b="1" dirty="0"/>
              <a:t>group × (1 ± noise)</a:t>
            </a:r>
            <a:br>
              <a:rPr lang="en-US" sz="1600" dirty="0"/>
            </a:br>
            <a:r>
              <a:rPr lang="en-US" sz="1600" dirty="0"/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L0 ≈ 2.08e-6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L1 ≈ 5.92e-6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L2 ≈ 1.84e-6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L3 ≈ 6.12e-6</a:t>
            </a:r>
            <a:br>
              <a:rPr lang="en-US" sz="1600" dirty="0"/>
            </a:br>
            <a:r>
              <a:rPr lang="en-US" sz="1600" dirty="0"/>
              <a:t>(Actual values vary slightly per run due to noise + seed)</a:t>
            </a:r>
          </a:p>
        </p:txBody>
      </p:sp>
    </p:spTree>
    <p:extLst>
      <p:ext uri="{BB962C8B-B14F-4D97-AF65-F5344CB8AC3E}">
        <p14:creationId xmlns:p14="http://schemas.microsoft.com/office/powerpoint/2010/main" val="3004073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17588-DAD9-3815-07A2-F6FAE5CFE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904" y="76261"/>
            <a:ext cx="10515600" cy="1325563"/>
          </a:xfrm>
        </p:spPr>
        <p:txBody>
          <a:bodyPr/>
          <a:lstStyle/>
          <a:p>
            <a:r>
              <a:rPr lang="en-US" dirty="0"/>
              <a:t>How the Hierarchical Model Behaves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E00C620-645C-26B9-5A37-83ACE27B6A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20496" y="991792"/>
            <a:ext cx="7985760" cy="6388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/>
              <a:t>Group-Level Characteristics</a:t>
            </a:r>
          </a:p>
          <a:p>
            <a:r>
              <a:rPr lang="en-US" sz="1800" b="1" dirty="0"/>
              <a:t>Group 0 (</a:t>
            </a:r>
            <a:r>
              <a:rPr lang="el-GR" sz="1800" b="1" dirty="0"/>
              <a:t>α ~ 2</a:t>
            </a:r>
            <a:r>
              <a:rPr lang="en-US" sz="1800" b="1" dirty="0"/>
              <a:t>e-6)</a:t>
            </a:r>
            <a:endParaRPr lang="en-US" sz="1800" dirty="0"/>
          </a:p>
          <a:p>
            <a:pPr lvl="1"/>
            <a:r>
              <a:rPr lang="en-US" sz="1800" dirty="0"/>
              <a:t>Slow forgetting</a:t>
            </a:r>
          </a:p>
          <a:p>
            <a:pPr lvl="1"/>
            <a:r>
              <a:rPr lang="en-US" sz="1800" dirty="0"/>
              <a:t>High rolling accuracy</a:t>
            </a:r>
          </a:p>
          <a:p>
            <a:pPr lvl="1"/>
            <a:r>
              <a:rPr lang="en-US" sz="1800" dirty="0"/>
              <a:t>More stable memory</a:t>
            </a:r>
          </a:p>
          <a:p>
            <a:pPr lvl="1"/>
            <a:r>
              <a:rPr lang="en-US" sz="1800" dirty="0"/>
              <a:t>Items stay mastered longer</a:t>
            </a:r>
          </a:p>
          <a:p>
            <a:r>
              <a:rPr lang="en-US" sz="1800" b="1" dirty="0"/>
              <a:t>Group 1 (</a:t>
            </a:r>
            <a:r>
              <a:rPr lang="el-GR" sz="1800" b="1" dirty="0"/>
              <a:t>α ~ 6</a:t>
            </a:r>
            <a:r>
              <a:rPr lang="en-US" sz="1800" b="1" dirty="0"/>
              <a:t>e-6)</a:t>
            </a:r>
            <a:endParaRPr lang="en-US" sz="1800" dirty="0"/>
          </a:p>
          <a:p>
            <a:pPr lvl="1"/>
            <a:r>
              <a:rPr lang="en-US" sz="1800" dirty="0"/>
              <a:t>Fast forgetting</a:t>
            </a:r>
          </a:p>
          <a:p>
            <a:pPr lvl="1"/>
            <a:r>
              <a:rPr lang="en-US" sz="1800" dirty="0"/>
              <a:t>Accuracy drops quickly</a:t>
            </a:r>
          </a:p>
          <a:p>
            <a:pPr lvl="1"/>
            <a:r>
              <a:rPr lang="en-US" sz="1800" dirty="0"/>
              <a:t>Needs more frequent review</a:t>
            </a:r>
          </a:p>
          <a:p>
            <a:pPr lvl="1"/>
            <a:r>
              <a:rPr lang="en-US" sz="1800" dirty="0"/>
              <a:t>PPO attends to them more</a:t>
            </a:r>
          </a:p>
          <a:p>
            <a:r>
              <a:rPr lang="en-US" sz="1400" b="1" dirty="0"/>
              <a:t>What PPO Learns</a:t>
            </a:r>
          </a:p>
          <a:p>
            <a:r>
              <a:rPr lang="en-US" sz="1400" dirty="0"/>
              <a:t>PPO learns </a:t>
            </a:r>
            <a:r>
              <a:rPr lang="en-US" sz="1400" b="1" dirty="0"/>
              <a:t>different teaching strategies</a:t>
            </a:r>
            <a:r>
              <a:rPr lang="en-US" sz="1400" dirty="0"/>
              <a:t> automatically:</a:t>
            </a:r>
          </a:p>
          <a:p>
            <a:pPr lvl="1"/>
            <a:r>
              <a:rPr lang="en-US" sz="1400" dirty="0"/>
              <a:t>More revisits for fast-forgetter group</a:t>
            </a:r>
          </a:p>
          <a:p>
            <a:pPr lvl="1"/>
            <a:r>
              <a:rPr lang="en-US" sz="1400" dirty="0"/>
              <a:t>Less frequent review for slow-forgetter group</a:t>
            </a:r>
          </a:p>
          <a:p>
            <a:r>
              <a:rPr lang="en-US" sz="1400" dirty="0"/>
              <a:t>Without ever being told group labels</a:t>
            </a:r>
            <a:br>
              <a:rPr lang="en-US" sz="1400" dirty="0"/>
            </a:br>
            <a:r>
              <a:rPr lang="en-US" sz="1400" dirty="0"/>
              <a:t>(The behavior emerges from α differences.)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73135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26481-4887-2344-47AE-91071FA78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Reward Function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FA3314B-35D2-09FC-F4A9-4BD0348D59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54637"/>
            <a:ext cx="1018032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Correct answer: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positive reward.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Incorrect answer: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penalty.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Invalid or repeat: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small penalty (teaching inefficiency).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correct=+1.0, incorrect=−1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Mastery bonus: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when an item crosses mastery threshold.</a:t>
            </a:r>
            <a:r>
              <a:rPr lang="en-US" sz="1800" dirty="0"/>
              <a:t> This encourages the agent to get learners past the finish line instead of hovering at medium recall.(+2.0)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b="1" dirty="0"/>
              <a:t>Invalid Action </a:t>
            </a:r>
            <a:r>
              <a:rPr lang="en-US" sz="1800" dirty="0"/>
              <a:t>(−0.10) -If the agent tries to practice an item that is already mastered, we give a small penalty. This prevents “wasting time” on items that don’t need practice.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b="1" dirty="0"/>
              <a:t>Step Cost </a:t>
            </a:r>
            <a:r>
              <a:rPr lang="en-US" sz="1800" dirty="0"/>
              <a:t>(−0.001 each step) -A tiny cost just for taking a step. This prevents the agent from dragging the episode without progress.</a:t>
            </a:r>
            <a:r>
              <a:rPr lang="en-US" altLang="en-US" sz="1800" dirty="0">
                <a:latin typeface="Arial" panose="020B0604020202020204" pitchFamily="34" charset="0"/>
              </a:rPr>
              <a:t>	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Fairness penalty: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dirty="0"/>
              <a:t>penalty if one learner is doing great while another is forgotten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pushes the agent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balance attention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en-US" sz="1800" dirty="0"/>
              <a:t> (-0.5)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reward shaping forces the agent to juggle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accuracy, spacing, and fairness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9175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7EE08-4A7C-D0BC-16C5-868BBF1CB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PPO Training Setup</a:t>
            </a: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116879A-7DC3-9B73-C8BE-42ED91B64E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78736"/>
            <a:ext cx="1080211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Algorithm: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Stable-Baselines3 PPO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custom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masked multi-head policy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hyperparams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tuned: rollout length, learning rate, clip range, entropy coefficient.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TensorBoard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logging: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Rollout rewards-</a:t>
            </a:r>
            <a:r>
              <a:rPr lang="en-US" sz="1800" dirty="0"/>
              <a:t>the agent’s score during training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(noisy, on-policy).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 rewards-</a:t>
            </a:r>
            <a:r>
              <a:rPr lang="en-US" sz="1800" dirty="0"/>
              <a:t>the score when we test the agent deterministically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(deterministic, smoother).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FPS / timesteps for monitoring speed.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EvalCallback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runs evaluation every 2048 steps to track generalization.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Checkpoints: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best model and final model saved for later comparison.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masked multi-head policy</a:t>
            </a:r>
            <a:r>
              <a:rPr lang="en-US" altLang="en-US" sz="1800" dirty="0">
                <a:latin typeface="Arial" panose="020B0604020202020204" pitchFamily="34" charset="0"/>
              </a:rPr>
              <a:t>- T</a:t>
            </a:r>
            <a:r>
              <a:rPr lang="en-US" sz="1800" dirty="0"/>
              <a:t>he policy has </a:t>
            </a:r>
            <a:r>
              <a:rPr lang="en-US" sz="1800" b="1" dirty="0"/>
              <a:t>one output head per learner</a:t>
            </a:r>
            <a:r>
              <a:rPr lang="en-US" sz="1800" dirty="0"/>
              <a:t>. But not every flashcard is always allowed. The </a:t>
            </a:r>
            <a:r>
              <a:rPr lang="en-US" sz="1800" b="1" dirty="0"/>
              <a:t>mask</a:t>
            </a:r>
            <a:r>
              <a:rPr lang="en-US" sz="1800" dirty="0"/>
              <a:t> hides those invalid flashcards which have been mastered already by that learner.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833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538</Words>
  <Application>Microsoft Office PowerPoint</Application>
  <PresentationFormat>Widescreen</PresentationFormat>
  <Paragraphs>69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Hierarchical Learner Model Setup</vt:lpstr>
      <vt:lpstr>How the Hierarchical Model Behaves</vt:lpstr>
      <vt:lpstr>Reward Function</vt:lpstr>
      <vt:lpstr>PPO Training Setup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Soumabrata Mukherjee</dc:creator>
  <cp:lastModifiedBy>Soumabrata Mukherjee</cp:lastModifiedBy>
  <cp:revision>4</cp:revision>
  <dcterms:created xsi:type="dcterms:W3CDTF">2025-09-14T19:58:45Z</dcterms:created>
  <dcterms:modified xsi:type="dcterms:W3CDTF">2025-11-19T18:18:33Z</dcterms:modified>
</cp:coreProperties>
</file>